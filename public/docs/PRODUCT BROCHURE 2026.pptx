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64" r:id="rId2"/>
    <p:sldId id="260" r:id="rId3"/>
    <p:sldId id="263" r:id="rId4"/>
    <p:sldId id="267" r:id="rId5"/>
    <p:sldId id="272" r:id="rId6"/>
    <p:sldId id="273" r:id="rId7"/>
    <p:sldId id="276" r:id="rId8"/>
    <p:sldId id="256" r:id="rId9"/>
    <p:sldId id="266" r:id="rId10"/>
    <p:sldId id="262" r:id="rId11"/>
    <p:sldId id="269" r:id="rId12"/>
    <p:sldId id="274" r:id="rId13"/>
    <p:sldId id="277" r:id="rId14"/>
    <p:sldId id="268" r:id="rId15"/>
    <p:sldId id="278" r:id="rId16"/>
    <p:sldId id="279" r:id="rId17"/>
    <p:sldId id="280" r:id="rId18"/>
    <p:sldId id="281" r:id="rId19"/>
    <p:sldId id="271" r:id="rId20"/>
    <p:sldId id="258" r:id="rId2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A00"/>
    <a:srgbClr val="F4F5F7"/>
    <a:srgbClr val="FFFFFF"/>
    <a:srgbClr val="1A1D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snapToGrid="0">
      <p:cViewPr varScale="1">
        <p:scale>
          <a:sx n="78" d="100"/>
          <a:sy n="78" d="100"/>
        </p:scale>
        <p:origin x="8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846B35-32B5-464E-866C-6B8FEEF64CE0}" type="datetimeFigureOut">
              <a:rPr lang="es-ES" smtClean="0"/>
              <a:t>04/06/2026</a:t>
            </a:fld>
            <a:endParaRPr lang="es-E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AAD9E9-6789-4A22-A643-BE6314B28FB5}" type="slidenum">
              <a:rPr lang="es-ES" smtClean="0"/>
              <a:t>‹#›</a:t>
            </a:fld>
            <a:endParaRPr lang="es-ES"/>
          </a:p>
        </p:txBody>
      </p:sp>
    </p:spTree>
    <p:extLst>
      <p:ext uri="{BB962C8B-B14F-4D97-AF65-F5344CB8AC3E}">
        <p14:creationId xmlns:p14="http://schemas.microsoft.com/office/powerpoint/2010/main" val="40298815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AA1E1-1253-4D20-AA76-DF85B9DE2B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ES"/>
          </a:p>
        </p:txBody>
      </p:sp>
      <p:sp>
        <p:nvSpPr>
          <p:cNvPr id="3" name="Subtitle 2">
            <a:extLst>
              <a:ext uri="{FF2B5EF4-FFF2-40B4-BE49-F238E27FC236}">
                <a16:creationId xmlns:a16="http://schemas.microsoft.com/office/drawing/2014/main" id="{807FB5C6-C8C3-1BB4-A6A2-3720362191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ES"/>
          </a:p>
        </p:txBody>
      </p:sp>
      <p:sp>
        <p:nvSpPr>
          <p:cNvPr id="4" name="Date Placeholder 3">
            <a:extLst>
              <a:ext uri="{FF2B5EF4-FFF2-40B4-BE49-F238E27FC236}">
                <a16:creationId xmlns:a16="http://schemas.microsoft.com/office/drawing/2014/main" id="{96427693-CFA7-65E6-F956-82FA824475B7}"/>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DBF3D65C-EB78-9B31-A372-90A6CC0D3857}"/>
              </a:ext>
            </a:extLst>
          </p:cNvPr>
          <p:cNvSpPr>
            <a:spLocks noGrp="1"/>
          </p:cNvSpPr>
          <p:nvPr>
            <p:ph type="ftr" sz="quarter" idx="11"/>
          </p:nvPr>
        </p:nvSpPr>
        <p:spPr/>
        <p:txBody>
          <a:bodyPr/>
          <a:lstStyle/>
          <a:p>
            <a:endParaRPr lang="es-ES"/>
          </a:p>
        </p:txBody>
      </p:sp>
      <p:sp>
        <p:nvSpPr>
          <p:cNvPr id="6" name="Slide Number Placeholder 5">
            <a:extLst>
              <a:ext uri="{FF2B5EF4-FFF2-40B4-BE49-F238E27FC236}">
                <a16:creationId xmlns:a16="http://schemas.microsoft.com/office/drawing/2014/main" id="{C5B0E30F-616D-3920-2A9B-A0299ED2EF78}"/>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541855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A16C4-D433-CAEB-BC9C-E0D0FCD98EED}"/>
              </a:ext>
            </a:extLst>
          </p:cNvPr>
          <p:cNvSpPr>
            <a:spLocks noGrp="1"/>
          </p:cNvSpPr>
          <p:nvPr>
            <p:ph type="title"/>
          </p:nvPr>
        </p:nvSpPr>
        <p:spPr/>
        <p:txBody>
          <a:bodyPr/>
          <a:lstStyle/>
          <a:p>
            <a:r>
              <a:rPr lang="en-US"/>
              <a:t>Click to edit Master title style</a:t>
            </a:r>
            <a:endParaRPr lang="es-ES"/>
          </a:p>
        </p:txBody>
      </p:sp>
      <p:sp>
        <p:nvSpPr>
          <p:cNvPr id="3" name="Content Placeholder 2">
            <a:extLst>
              <a:ext uri="{FF2B5EF4-FFF2-40B4-BE49-F238E27FC236}">
                <a16:creationId xmlns:a16="http://schemas.microsoft.com/office/drawing/2014/main" id="{85468562-14F1-F40D-B63A-B2079CCE3C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Date Placeholder 3">
            <a:extLst>
              <a:ext uri="{FF2B5EF4-FFF2-40B4-BE49-F238E27FC236}">
                <a16:creationId xmlns:a16="http://schemas.microsoft.com/office/drawing/2014/main" id="{D8D92531-A9C7-8F28-FE11-70568582A031}"/>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BBC752F3-3A24-0DC4-6282-A235969019CF}"/>
              </a:ext>
            </a:extLst>
          </p:cNvPr>
          <p:cNvSpPr>
            <a:spLocks noGrp="1"/>
          </p:cNvSpPr>
          <p:nvPr>
            <p:ph type="ftr" sz="quarter" idx="11"/>
          </p:nvPr>
        </p:nvSpPr>
        <p:spPr/>
        <p:txBody>
          <a:bodyPr/>
          <a:lstStyle/>
          <a:p>
            <a:endParaRPr lang="es-ES"/>
          </a:p>
        </p:txBody>
      </p:sp>
      <p:sp>
        <p:nvSpPr>
          <p:cNvPr id="6" name="Slide Number Placeholder 5">
            <a:extLst>
              <a:ext uri="{FF2B5EF4-FFF2-40B4-BE49-F238E27FC236}">
                <a16:creationId xmlns:a16="http://schemas.microsoft.com/office/drawing/2014/main" id="{149FBC57-87C1-554C-FF56-A3832CE0C6D9}"/>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3219617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98F2E-AB20-8A0C-14AB-A4F9856B2F6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ES"/>
          </a:p>
        </p:txBody>
      </p:sp>
      <p:sp>
        <p:nvSpPr>
          <p:cNvPr id="3" name="Text Placeholder 2">
            <a:extLst>
              <a:ext uri="{FF2B5EF4-FFF2-40B4-BE49-F238E27FC236}">
                <a16:creationId xmlns:a16="http://schemas.microsoft.com/office/drawing/2014/main" id="{8FF747A8-87AF-D46B-C691-4538FBFDB7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BBFD1CA-BC71-DBC4-D7CD-2A3BBD422B8F}"/>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8D7C4219-54B5-59DA-F2FA-5EAB369A77DB}"/>
              </a:ext>
            </a:extLst>
          </p:cNvPr>
          <p:cNvSpPr>
            <a:spLocks noGrp="1"/>
          </p:cNvSpPr>
          <p:nvPr>
            <p:ph type="ftr" sz="quarter" idx="11"/>
          </p:nvPr>
        </p:nvSpPr>
        <p:spPr/>
        <p:txBody>
          <a:bodyPr/>
          <a:lstStyle/>
          <a:p>
            <a:endParaRPr lang="es-ES"/>
          </a:p>
        </p:txBody>
      </p:sp>
      <p:sp>
        <p:nvSpPr>
          <p:cNvPr id="6" name="Slide Number Placeholder 5">
            <a:extLst>
              <a:ext uri="{FF2B5EF4-FFF2-40B4-BE49-F238E27FC236}">
                <a16:creationId xmlns:a16="http://schemas.microsoft.com/office/drawing/2014/main" id="{19BB9429-7505-8385-1553-F051652979A3}"/>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700838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4DBB1-FD79-D01B-8A00-E254D901886A}"/>
              </a:ext>
            </a:extLst>
          </p:cNvPr>
          <p:cNvSpPr>
            <a:spLocks noGrp="1"/>
          </p:cNvSpPr>
          <p:nvPr>
            <p:ph type="title"/>
          </p:nvPr>
        </p:nvSpPr>
        <p:spPr/>
        <p:txBody>
          <a:bodyPr/>
          <a:lstStyle/>
          <a:p>
            <a:r>
              <a:rPr lang="en-US"/>
              <a:t>Click to edit Master title style</a:t>
            </a:r>
            <a:endParaRPr lang="es-ES"/>
          </a:p>
        </p:txBody>
      </p:sp>
      <p:sp>
        <p:nvSpPr>
          <p:cNvPr id="3" name="Content Placeholder 2">
            <a:extLst>
              <a:ext uri="{FF2B5EF4-FFF2-40B4-BE49-F238E27FC236}">
                <a16:creationId xmlns:a16="http://schemas.microsoft.com/office/drawing/2014/main" id="{683CC758-7426-B517-B985-A423A81B66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Content Placeholder 3">
            <a:extLst>
              <a:ext uri="{FF2B5EF4-FFF2-40B4-BE49-F238E27FC236}">
                <a16:creationId xmlns:a16="http://schemas.microsoft.com/office/drawing/2014/main" id="{57AAE07C-3226-537E-51E6-E3241DB1E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5" name="Date Placeholder 4">
            <a:extLst>
              <a:ext uri="{FF2B5EF4-FFF2-40B4-BE49-F238E27FC236}">
                <a16:creationId xmlns:a16="http://schemas.microsoft.com/office/drawing/2014/main" id="{ADCFA253-3139-C43D-7C2C-6506E3A48987}"/>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6" name="Footer Placeholder 5">
            <a:extLst>
              <a:ext uri="{FF2B5EF4-FFF2-40B4-BE49-F238E27FC236}">
                <a16:creationId xmlns:a16="http://schemas.microsoft.com/office/drawing/2014/main" id="{5CB50C93-14EE-D77A-DD4E-F1E53D2332C1}"/>
              </a:ext>
            </a:extLst>
          </p:cNvPr>
          <p:cNvSpPr>
            <a:spLocks noGrp="1"/>
          </p:cNvSpPr>
          <p:nvPr>
            <p:ph type="ftr" sz="quarter" idx="11"/>
          </p:nvPr>
        </p:nvSpPr>
        <p:spPr/>
        <p:txBody>
          <a:bodyPr/>
          <a:lstStyle/>
          <a:p>
            <a:endParaRPr lang="es-ES"/>
          </a:p>
        </p:txBody>
      </p:sp>
      <p:sp>
        <p:nvSpPr>
          <p:cNvPr id="7" name="Slide Number Placeholder 6">
            <a:extLst>
              <a:ext uri="{FF2B5EF4-FFF2-40B4-BE49-F238E27FC236}">
                <a16:creationId xmlns:a16="http://schemas.microsoft.com/office/drawing/2014/main" id="{E83E3F9D-5ED2-46EE-55A0-98FA8AA060DD}"/>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1059050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C70B7-8D72-CA91-2F0D-36517D2BB4D2}"/>
              </a:ext>
            </a:extLst>
          </p:cNvPr>
          <p:cNvSpPr>
            <a:spLocks noGrp="1"/>
          </p:cNvSpPr>
          <p:nvPr>
            <p:ph type="title"/>
          </p:nvPr>
        </p:nvSpPr>
        <p:spPr>
          <a:xfrm>
            <a:off x="839788" y="365125"/>
            <a:ext cx="10515600" cy="1325563"/>
          </a:xfrm>
        </p:spPr>
        <p:txBody>
          <a:bodyPr/>
          <a:lstStyle/>
          <a:p>
            <a:r>
              <a:rPr lang="en-US"/>
              <a:t>Click to edit Master title style</a:t>
            </a:r>
            <a:endParaRPr lang="es-ES"/>
          </a:p>
        </p:txBody>
      </p:sp>
      <p:sp>
        <p:nvSpPr>
          <p:cNvPr id="3" name="Text Placeholder 2">
            <a:extLst>
              <a:ext uri="{FF2B5EF4-FFF2-40B4-BE49-F238E27FC236}">
                <a16:creationId xmlns:a16="http://schemas.microsoft.com/office/drawing/2014/main" id="{72ABA39B-5854-9400-2EE2-B833BCC84D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9A96512-4B63-6215-39E1-AE016440E0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5" name="Text Placeholder 4">
            <a:extLst>
              <a:ext uri="{FF2B5EF4-FFF2-40B4-BE49-F238E27FC236}">
                <a16:creationId xmlns:a16="http://schemas.microsoft.com/office/drawing/2014/main" id="{20D4298D-B769-31E4-C0E5-D0D8609E38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C9FE9FC-82EF-357F-A629-8EC55CEE5B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7" name="Date Placeholder 6">
            <a:extLst>
              <a:ext uri="{FF2B5EF4-FFF2-40B4-BE49-F238E27FC236}">
                <a16:creationId xmlns:a16="http://schemas.microsoft.com/office/drawing/2014/main" id="{461C8DE7-5BD4-80F9-0921-B5B2283E54F9}"/>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8" name="Footer Placeholder 7">
            <a:extLst>
              <a:ext uri="{FF2B5EF4-FFF2-40B4-BE49-F238E27FC236}">
                <a16:creationId xmlns:a16="http://schemas.microsoft.com/office/drawing/2014/main" id="{C49D375E-4893-433F-B60A-019A39FD0594}"/>
              </a:ext>
            </a:extLst>
          </p:cNvPr>
          <p:cNvSpPr>
            <a:spLocks noGrp="1"/>
          </p:cNvSpPr>
          <p:nvPr>
            <p:ph type="ftr" sz="quarter" idx="11"/>
          </p:nvPr>
        </p:nvSpPr>
        <p:spPr/>
        <p:txBody>
          <a:bodyPr/>
          <a:lstStyle/>
          <a:p>
            <a:endParaRPr lang="es-ES"/>
          </a:p>
        </p:txBody>
      </p:sp>
      <p:sp>
        <p:nvSpPr>
          <p:cNvPr id="9" name="Slide Number Placeholder 8">
            <a:extLst>
              <a:ext uri="{FF2B5EF4-FFF2-40B4-BE49-F238E27FC236}">
                <a16:creationId xmlns:a16="http://schemas.microsoft.com/office/drawing/2014/main" id="{48B424B9-89B5-C46F-5D88-5BA9F5D8E960}"/>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18862200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82DDD-B53F-1CBB-31AB-75410CD5FE76}"/>
              </a:ext>
            </a:extLst>
          </p:cNvPr>
          <p:cNvSpPr>
            <a:spLocks noGrp="1"/>
          </p:cNvSpPr>
          <p:nvPr>
            <p:ph type="title"/>
          </p:nvPr>
        </p:nvSpPr>
        <p:spPr/>
        <p:txBody>
          <a:bodyPr/>
          <a:lstStyle/>
          <a:p>
            <a:r>
              <a:rPr lang="en-US"/>
              <a:t>Click to edit Master title style</a:t>
            </a:r>
            <a:endParaRPr lang="es-ES"/>
          </a:p>
        </p:txBody>
      </p:sp>
      <p:sp>
        <p:nvSpPr>
          <p:cNvPr id="3" name="Date Placeholder 2">
            <a:extLst>
              <a:ext uri="{FF2B5EF4-FFF2-40B4-BE49-F238E27FC236}">
                <a16:creationId xmlns:a16="http://schemas.microsoft.com/office/drawing/2014/main" id="{6E22D3E7-0C29-58C8-9054-F0AB2920B019}"/>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4" name="Footer Placeholder 3">
            <a:extLst>
              <a:ext uri="{FF2B5EF4-FFF2-40B4-BE49-F238E27FC236}">
                <a16:creationId xmlns:a16="http://schemas.microsoft.com/office/drawing/2014/main" id="{AEAB03D4-2352-B1BA-167E-C89F8D42BAF5}"/>
              </a:ext>
            </a:extLst>
          </p:cNvPr>
          <p:cNvSpPr>
            <a:spLocks noGrp="1"/>
          </p:cNvSpPr>
          <p:nvPr>
            <p:ph type="ftr" sz="quarter" idx="11"/>
          </p:nvPr>
        </p:nvSpPr>
        <p:spPr/>
        <p:txBody>
          <a:bodyPr/>
          <a:lstStyle/>
          <a:p>
            <a:endParaRPr lang="es-ES"/>
          </a:p>
        </p:txBody>
      </p:sp>
      <p:sp>
        <p:nvSpPr>
          <p:cNvPr id="5" name="Slide Number Placeholder 4">
            <a:extLst>
              <a:ext uri="{FF2B5EF4-FFF2-40B4-BE49-F238E27FC236}">
                <a16:creationId xmlns:a16="http://schemas.microsoft.com/office/drawing/2014/main" id="{82CE6F77-BB57-3573-1549-2AD10CB082C7}"/>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15319147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488DD4-EDC1-CA25-86AC-10E9955EFDFC}"/>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3" name="Footer Placeholder 2">
            <a:extLst>
              <a:ext uri="{FF2B5EF4-FFF2-40B4-BE49-F238E27FC236}">
                <a16:creationId xmlns:a16="http://schemas.microsoft.com/office/drawing/2014/main" id="{48A07111-DD41-0A34-85BF-290A8686ECBB}"/>
              </a:ext>
            </a:extLst>
          </p:cNvPr>
          <p:cNvSpPr>
            <a:spLocks noGrp="1"/>
          </p:cNvSpPr>
          <p:nvPr>
            <p:ph type="ftr" sz="quarter" idx="11"/>
          </p:nvPr>
        </p:nvSpPr>
        <p:spPr/>
        <p:txBody>
          <a:bodyPr/>
          <a:lstStyle/>
          <a:p>
            <a:endParaRPr lang="es-ES"/>
          </a:p>
        </p:txBody>
      </p:sp>
      <p:sp>
        <p:nvSpPr>
          <p:cNvPr id="4" name="Slide Number Placeholder 3">
            <a:extLst>
              <a:ext uri="{FF2B5EF4-FFF2-40B4-BE49-F238E27FC236}">
                <a16:creationId xmlns:a16="http://schemas.microsoft.com/office/drawing/2014/main" id="{81F48DBD-9547-419B-823E-B38D4E362A33}"/>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1175637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C44F7-B1FD-A7CF-D92E-18255FD0E1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ES"/>
          </a:p>
        </p:txBody>
      </p:sp>
      <p:sp>
        <p:nvSpPr>
          <p:cNvPr id="3" name="Content Placeholder 2">
            <a:extLst>
              <a:ext uri="{FF2B5EF4-FFF2-40B4-BE49-F238E27FC236}">
                <a16:creationId xmlns:a16="http://schemas.microsoft.com/office/drawing/2014/main" id="{2412A593-65EB-17E4-B93D-F55860479F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Text Placeholder 3">
            <a:extLst>
              <a:ext uri="{FF2B5EF4-FFF2-40B4-BE49-F238E27FC236}">
                <a16:creationId xmlns:a16="http://schemas.microsoft.com/office/drawing/2014/main" id="{72C78807-683F-C45C-0EF4-E645989726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8DB6F0-43BA-528A-DC75-969CE56523C2}"/>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6" name="Footer Placeholder 5">
            <a:extLst>
              <a:ext uri="{FF2B5EF4-FFF2-40B4-BE49-F238E27FC236}">
                <a16:creationId xmlns:a16="http://schemas.microsoft.com/office/drawing/2014/main" id="{8F992041-3409-53C2-4C67-C48F20F42402}"/>
              </a:ext>
            </a:extLst>
          </p:cNvPr>
          <p:cNvSpPr>
            <a:spLocks noGrp="1"/>
          </p:cNvSpPr>
          <p:nvPr>
            <p:ph type="ftr" sz="quarter" idx="11"/>
          </p:nvPr>
        </p:nvSpPr>
        <p:spPr/>
        <p:txBody>
          <a:bodyPr/>
          <a:lstStyle/>
          <a:p>
            <a:endParaRPr lang="es-ES"/>
          </a:p>
        </p:txBody>
      </p:sp>
      <p:sp>
        <p:nvSpPr>
          <p:cNvPr id="7" name="Slide Number Placeholder 6">
            <a:extLst>
              <a:ext uri="{FF2B5EF4-FFF2-40B4-BE49-F238E27FC236}">
                <a16:creationId xmlns:a16="http://schemas.microsoft.com/office/drawing/2014/main" id="{3DCB4C40-4397-1671-36B1-4708DD291AF6}"/>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2883516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BBDD0-E768-065F-3E4A-608B13D0ED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ES"/>
          </a:p>
        </p:txBody>
      </p:sp>
      <p:sp>
        <p:nvSpPr>
          <p:cNvPr id="3" name="Picture Placeholder 2">
            <a:extLst>
              <a:ext uri="{FF2B5EF4-FFF2-40B4-BE49-F238E27FC236}">
                <a16:creationId xmlns:a16="http://schemas.microsoft.com/office/drawing/2014/main" id="{B3B924A9-E503-DA35-094D-302F26ACDC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Text Placeholder 3">
            <a:extLst>
              <a:ext uri="{FF2B5EF4-FFF2-40B4-BE49-F238E27FC236}">
                <a16:creationId xmlns:a16="http://schemas.microsoft.com/office/drawing/2014/main" id="{B8878669-6F33-21FE-BBC4-3A90336348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741639-2E82-7E8E-86DD-DC17B1919ACD}"/>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6" name="Footer Placeholder 5">
            <a:extLst>
              <a:ext uri="{FF2B5EF4-FFF2-40B4-BE49-F238E27FC236}">
                <a16:creationId xmlns:a16="http://schemas.microsoft.com/office/drawing/2014/main" id="{E2DFA093-5374-BF99-C9D7-D921AAF907BD}"/>
              </a:ext>
            </a:extLst>
          </p:cNvPr>
          <p:cNvSpPr>
            <a:spLocks noGrp="1"/>
          </p:cNvSpPr>
          <p:nvPr>
            <p:ph type="ftr" sz="quarter" idx="11"/>
          </p:nvPr>
        </p:nvSpPr>
        <p:spPr/>
        <p:txBody>
          <a:bodyPr/>
          <a:lstStyle/>
          <a:p>
            <a:endParaRPr lang="es-ES"/>
          </a:p>
        </p:txBody>
      </p:sp>
      <p:sp>
        <p:nvSpPr>
          <p:cNvPr id="7" name="Slide Number Placeholder 6">
            <a:extLst>
              <a:ext uri="{FF2B5EF4-FFF2-40B4-BE49-F238E27FC236}">
                <a16:creationId xmlns:a16="http://schemas.microsoft.com/office/drawing/2014/main" id="{89713C8E-7A3A-C268-2B48-36870DDF3176}"/>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56865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9EBDD-8CFD-1594-D668-F134FA42DCD2}"/>
              </a:ext>
            </a:extLst>
          </p:cNvPr>
          <p:cNvSpPr>
            <a:spLocks noGrp="1"/>
          </p:cNvSpPr>
          <p:nvPr>
            <p:ph type="title"/>
          </p:nvPr>
        </p:nvSpPr>
        <p:spPr/>
        <p:txBody>
          <a:bodyPr/>
          <a:lstStyle/>
          <a:p>
            <a:r>
              <a:rPr lang="en-US"/>
              <a:t>Click to edit Master title style</a:t>
            </a:r>
            <a:endParaRPr lang="es-ES"/>
          </a:p>
        </p:txBody>
      </p:sp>
      <p:sp>
        <p:nvSpPr>
          <p:cNvPr id="3" name="Vertical Text Placeholder 2">
            <a:extLst>
              <a:ext uri="{FF2B5EF4-FFF2-40B4-BE49-F238E27FC236}">
                <a16:creationId xmlns:a16="http://schemas.microsoft.com/office/drawing/2014/main" id="{BEDFE5ED-B1C0-1812-734D-8B03C66F1AD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Date Placeholder 3">
            <a:extLst>
              <a:ext uri="{FF2B5EF4-FFF2-40B4-BE49-F238E27FC236}">
                <a16:creationId xmlns:a16="http://schemas.microsoft.com/office/drawing/2014/main" id="{C6240DFA-1D87-02FC-A619-E1B05BF80BD0}"/>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CE0450ED-A799-C634-AEEA-0653CF50407E}"/>
              </a:ext>
            </a:extLst>
          </p:cNvPr>
          <p:cNvSpPr>
            <a:spLocks noGrp="1"/>
          </p:cNvSpPr>
          <p:nvPr>
            <p:ph type="ftr" sz="quarter" idx="11"/>
          </p:nvPr>
        </p:nvSpPr>
        <p:spPr/>
        <p:txBody>
          <a:bodyPr/>
          <a:lstStyle/>
          <a:p>
            <a:endParaRPr lang="es-ES"/>
          </a:p>
        </p:txBody>
      </p:sp>
      <p:sp>
        <p:nvSpPr>
          <p:cNvPr id="6" name="Slide Number Placeholder 5">
            <a:extLst>
              <a:ext uri="{FF2B5EF4-FFF2-40B4-BE49-F238E27FC236}">
                <a16:creationId xmlns:a16="http://schemas.microsoft.com/office/drawing/2014/main" id="{AC869995-DC85-6926-CC3C-BC96D7772910}"/>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344614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4D2872-1E87-A179-E89E-01DCBD141C8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ES"/>
          </a:p>
        </p:txBody>
      </p:sp>
      <p:sp>
        <p:nvSpPr>
          <p:cNvPr id="3" name="Vertical Text Placeholder 2">
            <a:extLst>
              <a:ext uri="{FF2B5EF4-FFF2-40B4-BE49-F238E27FC236}">
                <a16:creationId xmlns:a16="http://schemas.microsoft.com/office/drawing/2014/main" id="{A02379B4-B235-35EC-B865-75C8C7D5117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Date Placeholder 3">
            <a:extLst>
              <a:ext uri="{FF2B5EF4-FFF2-40B4-BE49-F238E27FC236}">
                <a16:creationId xmlns:a16="http://schemas.microsoft.com/office/drawing/2014/main" id="{BBAB0520-EA15-8626-7426-9B5944FDB618}"/>
              </a:ext>
            </a:extLst>
          </p:cNvPr>
          <p:cNvSpPr>
            <a:spLocks noGrp="1"/>
          </p:cNvSpPr>
          <p:nvPr>
            <p:ph type="dt" sz="half" idx="10"/>
          </p:nvPr>
        </p:nvSpPr>
        <p:spPr/>
        <p:txBody>
          <a:body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95F3B924-2B3B-AC67-E774-E75345D94173}"/>
              </a:ext>
            </a:extLst>
          </p:cNvPr>
          <p:cNvSpPr>
            <a:spLocks noGrp="1"/>
          </p:cNvSpPr>
          <p:nvPr>
            <p:ph type="ftr" sz="quarter" idx="11"/>
          </p:nvPr>
        </p:nvSpPr>
        <p:spPr/>
        <p:txBody>
          <a:bodyPr/>
          <a:lstStyle/>
          <a:p>
            <a:endParaRPr lang="es-ES"/>
          </a:p>
        </p:txBody>
      </p:sp>
      <p:sp>
        <p:nvSpPr>
          <p:cNvPr id="6" name="Slide Number Placeholder 5">
            <a:extLst>
              <a:ext uri="{FF2B5EF4-FFF2-40B4-BE49-F238E27FC236}">
                <a16:creationId xmlns:a16="http://schemas.microsoft.com/office/drawing/2014/main" id="{EAC9BCB8-C887-AF5A-78B4-6294B1B674BE}"/>
              </a:ext>
            </a:extLst>
          </p:cNvPr>
          <p:cNvSpPr>
            <a:spLocks noGrp="1"/>
          </p:cNvSpPr>
          <p:nvPr>
            <p:ph type="sldNum" sz="quarter" idx="12"/>
          </p:nvPr>
        </p:nvSpPr>
        <p:spPr/>
        <p:txBody>
          <a:bodyPr/>
          <a:lstStyle/>
          <a:p>
            <a:fld id="{52C2CC9B-B035-45DE-BD49-72A5A86D7E51}" type="slidenum">
              <a:rPr lang="es-ES" smtClean="0"/>
              <a:t>‹#›</a:t>
            </a:fld>
            <a:endParaRPr lang="es-ES"/>
          </a:p>
        </p:txBody>
      </p:sp>
    </p:spTree>
    <p:extLst>
      <p:ext uri="{BB962C8B-B14F-4D97-AF65-F5344CB8AC3E}">
        <p14:creationId xmlns:p14="http://schemas.microsoft.com/office/powerpoint/2010/main" val="33989557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1BD4AC-163F-42FB-EDF6-E30646CAB4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ES"/>
          </a:p>
        </p:txBody>
      </p:sp>
      <p:sp>
        <p:nvSpPr>
          <p:cNvPr id="3" name="Text Placeholder 2">
            <a:extLst>
              <a:ext uri="{FF2B5EF4-FFF2-40B4-BE49-F238E27FC236}">
                <a16:creationId xmlns:a16="http://schemas.microsoft.com/office/drawing/2014/main" id="{119A97D6-8375-CAAC-8FB9-9634DBA3BD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4" name="Date Placeholder 3">
            <a:extLst>
              <a:ext uri="{FF2B5EF4-FFF2-40B4-BE49-F238E27FC236}">
                <a16:creationId xmlns:a16="http://schemas.microsoft.com/office/drawing/2014/main" id="{6810C521-40E0-1001-D55C-868EC60A4B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693C2FE-465F-4C6A-BABE-D4D9BB845DF9}" type="datetimeFigureOut">
              <a:rPr lang="es-ES" smtClean="0"/>
              <a:t>04/06/2026</a:t>
            </a:fld>
            <a:endParaRPr lang="es-ES"/>
          </a:p>
        </p:txBody>
      </p:sp>
      <p:sp>
        <p:nvSpPr>
          <p:cNvPr id="5" name="Footer Placeholder 4">
            <a:extLst>
              <a:ext uri="{FF2B5EF4-FFF2-40B4-BE49-F238E27FC236}">
                <a16:creationId xmlns:a16="http://schemas.microsoft.com/office/drawing/2014/main" id="{2C0F395E-4CD2-CE7C-B375-38551B99AC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Slide Number Placeholder 5">
            <a:extLst>
              <a:ext uri="{FF2B5EF4-FFF2-40B4-BE49-F238E27FC236}">
                <a16:creationId xmlns:a16="http://schemas.microsoft.com/office/drawing/2014/main" id="{1849BDB3-2646-23F2-FCEE-30B10D49AF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2C2CC9B-B035-45DE-BD49-72A5A86D7E51}" type="slidenum">
              <a:rPr lang="es-ES" smtClean="0"/>
              <a:t>‹#›</a:t>
            </a:fld>
            <a:endParaRPr lang="es-ES"/>
          </a:p>
        </p:txBody>
      </p:sp>
    </p:spTree>
    <p:extLst>
      <p:ext uri="{BB962C8B-B14F-4D97-AF65-F5344CB8AC3E}">
        <p14:creationId xmlns:p14="http://schemas.microsoft.com/office/powerpoint/2010/main" val="419174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5F7"/>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544543-2986-D424-62B5-E6729B3C66AB}"/>
              </a:ext>
            </a:extLst>
          </p:cNvPr>
          <p:cNvPicPr>
            <a:picLocks noChangeAspect="1"/>
          </p:cNvPicPr>
          <p:nvPr/>
        </p:nvPicPr>
        <p:blipFill>
          <a:blip r:embed="rId2">
            <a:extLst>
              <a:ext uri="{28A0092B-C50C-407E-A947-70E740481C1C}">
                <a14:useLocalDpi xmlns:a14="http://schemas.microsoft.com/office/drawing/2010/main" val="0"/>
              </a:ext>
            </a:extLst>
          </a:blip>
          <a:srcRect t="25492" b="27659"/>
          <a:stretch>
            <a:fillRect/>
          </a:stretch>
        </p:blipFill>
        <p:spPr>
          <a:xfrm>
            <a:off x="2678609" y="0"/>
            <a:ext cx="6013107" cy="2817107"/>
          </a:xfrm>
          <a:prstGeom prst="rect">
            <a:avLst/>
          </a:prstGeom>
        </p:spPr>
      </p:pic>
      <p:sp>
        <p:nvSpPr>
          <p:cNvPr id="5" name="TextBox 4">
            <a:extLst>
              <a:ext uri="{FF2B5EF4-FFF2-40B4-BE49-F238E27FC236}">
                <a16:creationId xmlns:a16="http://schemas.microsoft.com/office/drawing/2014/main" id="{81180A80-3C4E-FC70-26C2-FAD7CAF2F16A}"/>
              </a:ext>
            </a:extLst>
          </p:cNvPr>
          <p:cNvSpPr txBox="1"/>
          <p:nvPr/>
        </p:nvSpPr>
        <p:spPr>
          <a:xfrm>
            <a:off x="3513722" y="2401608"/>
            <a:ext cx="6096000" cy="830997"/>
          </a:xfrm>
          <a:prstGeom prst="rect">
            <a:avLst/>
          </a:prstGeom>
          <a:noFill/>
        </p:spPr>
        <p:txBody>
          <a:bodyPr wrap="square">
            <a:spAutoFit/>
          </a:bodyPr>
          <a:lstStyle/>
          <a:p>
            <a:r>
              <a:rPr lang="es-ES" sz="2400" b="1" dirty="0"/>
              <a:t>TAILORED AUTOMATION</a:t>
            </a:r>
          </a:p>
          <a:p>
            <a:r>
              <a:rPr lang="es-ES" sz="2400" b="1" dirty="0"/>
              <a:t>&amp; INTRALOGISTICS</a:t>
            </a:r>
          </a:p>
        </p:txBody>
      </p:sp>
      <p:sp>
        <p:nvSpPr>
          <p:cNvPr id="7" name="TextBox 6">
            <a:extLst>
              <a:ext uri="{FF2B5EF4-FFF2-40B4-BE49-F238E27FC236}">
                <a16:creationId xmlns:a16="http://schemas.microsoft.com/office/drawing/2014/main" id="{29184E5A-3841-D425-80B0-6EDE970EBDE9}"/>
              </a:ext>
            </a:extLst>
          </p:cNvPr>
          <p:cNvSpPr txBox="1"/>
          <p:nvPr/>
        </p:nvSpPr>
        <p:spPr>
          <a:xfrm>
            <a:off x="3048000" y="3761065"/>
            <a:ext cx="6096000" cy="1569660"/>
          </a:xfrm>
          <a:prstGeom prst="rect">
            <a:avLst/>
          </a:prstGeom>
          <a:noFill/>
        </p:spPr>
        <p:txBody>
          <a:bodyPr wrap="square">
            <a:spAutoFit/>
          </a:bodyPr>
          <a:lstStyle/>
          <a:p>
            <a:pPr algn="ctr"/>
            <a:r>
              <a:rPr lang="en-US" sz="3200" b="1" noProof="0" dirty="0">
                <a:latin typeface="Montserrat" panose="00000500000000000000" pitchFamily="2" charset="0"/>
              </a:rPr>
              <a:t>The Corrugated Plant </a:t>
            </a:r>
          </a:p>
          <a:p>
            <a:pPr algn="ctr"/>
            <a:r>
              <a:rPr lang="en-US" sz="3200" b="1" noProof="0" dirty="0">
                <a:latin typeface="Montserrat" panose="00000500000000000000" pitchFamily="2" charset="0"/>
              </a:rPr>
              <a:t>of </a:t>
            </a:r>
            <a:r>
              <a:rPr lang="en-US" sz="3200" b="1" noProof="0" dirty="0">
                <a:solidFill>
                  <a:srgbClr val="FF6A00"/>
                </a:solidFill>
                <a:latin typeface="Montserrat" panose="00000500000000000000" pitchFamily="2" charset="0"/>
              </a:rPr>
              <a:t>the Future </a:t>
            </a:r>
          </a:p>
          <a:p>
            <a:pPr algn="ctr"/>
            <a:r>
              <a:rPr lang="en-US" sz="3200" b="1" noProof="0" dirty="0">
                <a:latin typeface="Montserrat" panose="00000500000000000000" pitchFamily="2" charset="0"/>
              </a:rPr>
              <a:t>Starts Here</a:t>
            </a:r>
          </a:p>
        </p:txBody>
      </p:sp>
      <p:sp>
        <p:nvSpPr>
          <p:cNvPr id="8" name="Rectangle 7">
            <a:extLst>
              <a:ext uri="{FF2B5EF4-FFF2-40B4-BE49-F238E27FC236}">
                <a16:creationId xmlns:a16="http://schemas.microsoft.com/office/drawing/2014/main" id="{A9BD63F1-58DA-2BC8-E344-385970721707}"/>
              </a:ext>
            </a:extLst>
          </p:cNvPr>
          <p:cNvSpPr/>
          <p:nvPr/>
        </p:nvSpPr>
        <p:spPr>
          <a:xfrm>
            <a:off x="3513722" y="3401568"/>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31114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8C14F-0F92-8A21-9E27-01F00A68E1E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1B576AC-02F3-83BE-E1C9-0DFD446D70B6}"/>
              </a:ext>
            </a:extLst>
          </p:cNvPr>
          <p:cNvPicPr>
            <a:picLocks noChangeAspect="1"/>
          </p:cNvPicPr>
          <p:nvPr/>
        </p:nvPicPr>
        <p:blipFill>
          <a:blip r:embed="rId2"/>
          <a:stretch>
            <a:fillRect/>
          </a:stretch>
        </p:blipFill>
        <p:spPr>
          <a:xfrm>
            <a:off x="0" y="-7922138"/>
            <a:ext cx="12192000" cy="14808105"/>
          </a:xfrm>
          <a:prstGeom prst="rect">
            <a:avLst/>
          </a:prstGeom>
        </p:spPr>
      </p:pic>
      <p:pic>
        <p:nvPicPr>
          <p:cNvPr id="8" name="Picture 7">
            <a:extLst>
              <a:ext uri="{FF2B5EF4-FFF2-40B4-BE49-F238E27FC236}">
                <a16:creationId xmlns:a16="http://schemas.microsoft.com/office/drawing/2014/main" id="{5E540600-C38C-F376-408E-F29E9E9245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3531" y="0"/>
            <a:ext cx="9024938" cy="6858000"/>
          </a:xfrm>
          <a:prstGeom prst="rect">
            <a:avLst/>
          </a:prstGeom>
        </p:spPr>
      </p:pic>
      <p:sp>
        <p:nvSpPr>
          <p:cNvPr id="11" name="TextBox 10">
            <a:extLst>
              <a:ext uri="{FF2B5EF4-FFF2-40B4-BE49-F238E27FC236}">
                <a16:creationId xmlns:a16="http://schemas.microsoft.com/office/drawing/2014/main" id="{D68B5B18-8866-656E-618B-B72ABCDCC215}"/>
              </a:ext>
            </a:extLst>
          </p:cNvPr>
          <p:cNvSpPr txBox="1"/>
          <p:nvPr/>
        </p:nvSpPr>
        <p:spPr>
          <a:xfrm>
            <a:off x="1583531" y="0"/>
            <a:ext cx="9024937" cy="1477328"/>
          </a:xfrm>
          <a:prstGeom prst="rect">
            <a:avLst/>
          </a:prstGeom>
          <a:solidFill>
            <a:srgbClr val="F4F5F7"/>
          </a:solidFill>
        </p:spPr>
        <p:txBody>
          <a:bodyPr wrap="square">
            <a:spAutoFit/>
          </a:bodyPr>
          <a:lstStyle/>
          <a:p>
            <a:r>
              <a:rPr lang="en-US" sz="3000" b="1" noProof="0" dirty="0">
                <a:solidFill>
                  <a:srgbClr val="151515"/>
                </a:solidFill>
                <a:latin typeface="Montserrat"/>
              </a:rPr>
              <a:t>	 </a:t>
            </a:r>
          </a:p>
          <a:p>
            <a:endParaRPr lang="en-US" sz="3000" b="1" dirty="0">
              <a:solidFill>
                <a:srgbClr val="151515"/>
              </a:solidFill>
              <a:latin typeface="Montserrat"/>
            </a:endParaRPr>
          </a:p>
          <a:p>
            <a:endParaRPr lang="en-US" sz="3000" b="1" noProof="0" dirty="0">
              <a:solidFill>
                <a:srgbClr val="FF6A00"/>
              </a:solidFill>
              <a:latin typeface="Montserrat"/>
            </a:endParaRPr>
          </a:p>
        </p:txBody>
      </p:sp>
      <p:sp>
        <p:nvSpPr>
          <p:cNvPr id="4" name="TextBox 3">
            <a:extLst>
              <a:ext uri="{FF2B5EF4-FFF2-40B4-BE49-F238E27FC236}">
                <a16:creationId xmlns:a16="http://schemas.microsoft.com/office/drawing/2014/main" id="{E7DF3E20-A327-7AAE-5A71-60E36389C4A9}"/>
              </a:ext>
            </a:extLst>
          </p:cNvPr>
          <p:cNvSpPr txBox="1"/>
          <p:nvPr/>
        </p:nvSpPr>
        <p:spPr>
          <a:xfrm>
            <a:off x="1583531" y="5811560"/>
            <a:ext cx="9024938" cy="1046440"/>
          </a:xfrm>
          <a:prstGeom prst="rect">
            <a:avLst/>
          </a:prstGeom>
          <a:solidFill>
            <a:srgbClr val="F4F5F7"/>
          </a:solidFill>
        </p:spPr>
        <p:txBody>
          <a:bodyPr wrap="square">
            <a:spAutoFit/>
          </a:bodyPr>
          <a:lstStyle/>
          <a:p>
            <a:r>
              <a:rPr lang="en-US" sz="3000" b="1" noProof="0" dirty="0">
                <a:solidFill>
                  <a:srgbClr val="151515"/>
                </a:solidFill>
                <a:latin typeface="Montserrat"/>
              </a:rPr>
              <a:t>	1.268	28		26		194</a:t>
            </a:r>
          </a:p>
          <a:p>
            <a:r>
              <a:rPr lang="en-US" sz="3000" b="1" dirty="0">
                <a:solidFill>
                  <a:srgbClr val="151515"/>
                </a:solidFill>
                <a:latin typeface="Montserrat"/>
              </a:rPr>
              <a:t>       </a:t>
            </a:r>
            <a:r>
              <a:rPr lang="en-US" sz="2400" b="1" noProof="0" dirty="0">
                <a:solidFill>
                  <a:srgbClr val="FF6A00"/>
                </a:solidFill>
                <a:latin typeface="Montserrat"/>
              </a:rPr>
              <a:t>Projects</a:t>
            </a:r>
            <a:r>
              <a:rPr lang="en-US" sz="2400" b="1" dirty="0">
                <a:solidFill>
                  <a:srgbClr val="FF6A00"/>
                </a:solidFill>
                <a:latin typeface="Montserrat"/>
              </a:rPr>
              <a:t>      </a:t>
            </a:r>
            <a:r>
              <a:rPr lang="en-US" sz="2400" b="1" noProof="0" dirty="0">
                <a:solidFill>
                  <a:srgbClr val="FF6A00"/>
                </a:solidFill>
                <a:latin typeface="Montserrat"/>
              </a:rPr>
              <a:t>Years</a:t>
            </a:r>
            <a:r>
              <a:rPr lang="en-US" sz="2000" b="1" noProof="0" dirty="0">
                <a:solidFill>
                  <a:srgbClr val="FF6A00"/>
                </a:solidFill>
                <a:latin typeface="Montserrat"/>
              </a:rPr>
              <a:t>	</a:t>
            </a:r>
            <a:r>
              <a:rPr lang="en-US" sz="2000" b="1" dirty="0">
                <a:solidFill>
                  <a:srgbClr val="FF6A00"/>
                </a:solidFill>
                <a:latin typeface="Montserrat"/>
              </a:rPr>
              <a:t>      </a:t>
            </a:r>
            <a:r>
              <a:rPr lang="en-US" b="1" dirty="0">
                <a:solidFill>
                  <a:srgbClr val="FF6A00"/>
                </a:solidFill>
                <a:latin typeface="Montserrat"/>
              </a:rPr>
              <a:t>Agreements            Installations</a:t>
            </a:r>
            <a:endParaRPr lang="en-US" sz="3000" b="1" noProof="0" dirty="0">
              <a:solidFill>
                <a:srgbClr val="FF6A00"/>
              </a:solidFill>
              <a:latin typeface="Montserrat"/>
            </a:endParaRPr>
          </a:p>
        </p:txBody>
      </p:sp>
      <p:pic>
        <p:nvPicPr>
          <p:cNvPr id="10" name="Picture 9">
            <a:extLst>
              <a:ext uri="{FF2B5EF4-FFF2-40B4-BE49-F238E27FC236}">
                <a16:creationId xmlns:a16="http://schemas.microsoft.com/office/drawing/2014/main" id="{EC831B8B-CEB1-8D94-A5A9-900C3DF0DE52}"/>
              </a:ext>
            </a:extLst>
          </p:cNvPr>
          <p:cNvPicPr>
            <a:picLocks noChangeAspect="1"/>
          </p:cNvPicPr>
          <p:nvPr/>
        </p:nvPicPr>
        <p:blipFill>
          <a:blip r:embed="rId4"/>
          <a:srcRect b="53400"/>
          <a:stretch>
            <a:fillRect/>
          </a:stretch>
        </p:blipFill>
        <p:spPr>
          <a:xfrm>
            <a:off x="1583532" y="0"/>
            <a:ext cx="3812022" cy="1421394"/>
          </a:xfrm>
          <a:prstGeom prst="rect">
            <a:avLst/>
          </a:prstGeom>
        </p:spPr>
      </p:pic>
    </p:spTree>
    <p:extLst>
      <p:ext uri="{BB962C8B-B14F-4D97-AF65-F5344CB8AC3E}">
        <p14:creationId xmlns:p14="http://schemas.microsoft.com/office/powerpoint/2010/main" val="38898484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28979-9C0F-AB3E-7770-9165B0FA2D9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375E691-DEB2-CD94-D80D-190AA7E14B4E}"/>
              </a:ext>
            </a:extLst>
          </p:cNvPr>
          <p:cNvSpPr/>
          <p:nvPr/>
        </p:nvSpPr>
        <p:spPr>
          <a:xfrm>
            <a:off x="790186" y="977805"/>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910F619C-D3B4-038E-E916-459AE8922DD9}"/>
              </a:ext>
            </a:extLst>
          </p:cNvPr>
          <p:cNvSpPr txBox="1"/>
          <p:nvPr/>
        </p:nvSpPr>
        <p:spPr>
          <a:xfrm>
            <a:off x="717428" y="1521377"/>
            <a:ext cx="10529692" cy="3631763"/>
          </a:xfrm>
          <a:prstGeom prst="rect">
            <a:avLst/>
          </a:prstGeom>
          <a:solidFill>
            <a:srgbClr val="FFFFFF"/>
          </a:solidFill>
        </p:spPr>
        <p:txBody>
          <a:bodyPr wrap="square">
            <a:spAutoFit/>
          </a:bodyPr>
          <a:lstStyle/>
          <a:p>
            <a:pPr>
              <a:spcAft>
                <a:spcPts val="1200"/>
              </a:spcAft>
              <a:defRPr sz="1800">
                <a:solidFill>
                  <a:srgbClr val="6F7378"/>
                </a:solidFill>
                <a:latin typeface="Inter"/>
              </a:defRPr>
            </a:pPr>
            <a:r>
              <a:rPr lang="en-US" sz="2000" dirty="0"/>
              <a:t>Industrial machinery			Operational efficiency and reduced manual handling</a:t>
            </a:r>
          </a:p>
          <a:p>
            <a:pPr>
              <a:spcAft>
                <a:spcPts val="1200"/>
              </a:spcAft>
              <a:defRPr sz="1800">
                <a:solidFill>
                  <a:srgbClr val="6F7378"/>
                </a:solidFill>
                <a:latin typeface="Inter"/>
              </a:defRPr>
            </a:pPr>
            <a:r>
              <a:rPr lang="en-US" sz="2000" dirty="0"/>
              <a:t>Installation &amp; commissioning		Seamless integration into your existing plant flow</a:t>
            </a:r>
          </a:p>
          <a:p>
            <a:pPr>
              <a:spcAft>
                <a:spcPts val="1200"/>
              </a:spcAft>
              <a:defRPr sz="1800">
                <a:solidFill>
                  <a:srgbClr val="6F7378"/>
                </a:solidFill>
                <a:latin typeface="Inter"/>
              </a:defRPr>
            </a:pPr>
            <a:r>
              <a:rPr lang="en-US" sz="2000" dirty="0"/>
              <a:t>Robotics &amp; palletizing			Lower error rates, higher throughput, improved safety</a:t>
            </a:r>
          </a:p>
          <a:p>
            <a:pPr>
              <a:spcAft>
                <a:spcPts val="1200"/>
              </a:spcAft>
              <a:defRPr sz="1800">
                <a:solidFill>
                  <a:srgbClr val="6F7378"/>
                </a:solidFill>
                <a:latin typeface="Inter"/>
              </a:defRPr>
            </a:pPr>
            <a:r>
              <a:rPr lang="en-US" sz="2000" dirty="0"/>
              <a:t>Project management			Single point of contact for the entire project lifecycle</a:t>
            </a:r>
          </a:p>
          <a:p>
            <a:pPr>
              <a:spcAft>
                <a:spcPts val="1200"/>
              </a:spcAft>
              <a:defRPr sz="1800">
                <a:solidFill>
                  <a:srgbClr val="6F7378"/>
                </a:solidFill>
                <a:latin typeface="Inter"/>
              </a:defRPr>
            </a:pPr>
            <a:r>
              <a:rPr lang="en-US" sz="2000" dirty="0"/>
              <a:t>360° turnkey solution			Design, execution, training, and startup from A to Z</a:t>
            </a:r>
          </a:p>
          <a:p>
            <a:pPr>
              <a:spcAft>
                <a:spcPts val="1200"/>
              </a:spcAft>
              <a:defRPr sz="1800">
                <a:solidFill>
                  <a:srgbClr val="6F7378"/>
                </a:solidFill>
                <a:latin typeface="Inter"/>
              </a:defRPr>
            </a:pPr>
            <a:r>
              <a:rPr lang="en-US" sz="2000" dirty="0"/>
              <a:t>Technical auditing			Independent diagnosis, free from manufacturer bias</a:t>
            </a:r>
          </a:p>
          <a:p>
            <a:pPr>
              <a:spcAft>
                <a:spcPts val="1200"/>
              </a:spcAft>
              <a:defRPr sz="1800">
                <a:solidFill>
                  <a:srgbClr val="6F7378"/>
                </a:solidFill>
                <a:latin typeface="Inter"/>
              </a:defRPr>
            </a:pPr>
            <a:r>
              <a:rPr lang="en-US" sz="2000" dirty="0"/>
              <a:t>Industrial Intelligence (Ing_PRO)		AI applied to operations, maintenance, and quality</a:t>
            </a:r>
          </a:p>
          <a:p>
            <a:pPr>
              <a:spcAft>
                <a:spcPts val="1200"/>
              </a:spcAft>
              <a:defRPr sz="1800">
                <a:solidFill>
                  <a:srgbClr val="6F7378"/>
                </a:solidFill>
                <a:latin typeface="Inter"/>
              </a:defRPr>
            </a:pPr>
            <a:endParaRPr sz="2000" dirty="0"/>
          </a:p>
        </p:txBody>
      </p:sp>
      <p:sp>
        <p:nvSpPr>
          <p:cNvPr id="7" name="TextBox 6">
            <a:extLst>
              <a:ext uri="{FF2B5EF4-FFF2-40B4-BE49-F238E27FC236}">
                <a16:creationId xmlns:a16="http://schemas.microsoft.com/office/drawing/2014/main" id="{E6E0CF9B-DAE5-7453-AA88-7A29C7D2EAB1}"/>
              </a:ext>
            </a:extLst>
          </p:cNvPr>
          <p:cNvSpPr txBox="1"/>
          <p:nvPr/>
        </p:nvSpPr>
        <p:spPr>
          <a:xfrm>
            <a:off x="717428" y="314960"/>
            <a:ext cx="7888092" cy="461665"/>
          </a:xfrm>
          <a:prstGeom prst="rect">
            <a:avLst/>
          </a:prstGeom>
          <a:noFill/>
        </p:spPr>
        <p:txBody>
          <a:bodyPr wrap="square">
            <a:spAutoFit/>
          </a:bodyPr>
          <a:lstStyle/>
          <a:p>
            <a:r>
              <a:rPr lang="en-US" sz="2400" b="1" noProof="0" dirty="0">
                <a:solidFill>
                  <a:srgbClr val="FF6A00"/>
                </a:solidFill>
                <a:latin typeface="Montserrat"/>
              </a:rPr>
              <a:t>WHAT WE DO</a:t>
            </a:r>
            <a:endParaRPr lang="en-US" sz="2000" noProof="0" dirty="0">
              <a:solidFill>
                <a:srgbClr val="151515"/>
              </a:solidFill>
              <a:latin typeface="Inter"/>
            </a:endParaRPr>
          </a:p>
        </p:txBody>
      </p:sp>
      <p:sp>
        <p:nvSpPr>
          <p:cNvPr id="8" name="TextBox 7">
            <a:extLst>
              <a:ext uri="{FF2B5EF4-FFF2-40B4-BE49-F238E27FC236}">
                <a16:creationId xmlns:a16="http://schemas.microsoft.com/office/drawing/2014/main" id="{41F7FCD4-6D6D-633F-9F52-1565085C3CF7}"/>
              </a:ext>
            </a:extLst>
          </p:cNvPr>
          <p:cNvSpPr txBox="1"/>
          <p:nvPr/>
        </p:nvSpPr>
        <p:spPr>
          <a:xfrm>
            <a:off x="914400" y="5212080"/>
            <a:ext cx="9144000" cy="1097280"/>
          </a:xfrm>
          <a:prstGeom prst="rect">
            <a:avLst/>
          </a:prstGeom>
          <a:noFill/>
        </p:spPr>
        <p:txBody>
          <a:bodyPr wrap="none">
            <a:spAutoFit/>
          </a:bodyPr>
          <a:lstStyle/>
          <a:p>
            <a:r>
              <a:rPr sz="3000" b="1" dirty="0">
                <a:solidFill>
                  <a:srgbClr val="151515"/>
                </a:solidFill>
                <a:latin typeface="Montserrat"/>
              </a:rPr>
              <a:t>The Corrugated Plant
of the </a:t>
            </a:r>
            <a:r>
              <a:rPr sz="3000" b="1" dirty="0">
                <a:solidFill>
                  <a:srgbClr val="FF6A00"/>
                </a:solidFill>
                <a:latin typeface="Montserrat"/>
              </a:rPr>
              <a:t>Future</a:t>
            </a:r>
          </a:p>
        </p:txBody>
      </p:sp>
    </p:spTree>
    <p:extLst>
      <p:ext uri="{BB962C8B-B14F-4D97-AF65-F5344CB8AC3E}">
        <p14:creationId xmlns:p14="http://schemas.microsoft.com/office/powerpoint/2010/main" val="39407628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E6FB262-21C3-092C-4427-1F58D216A8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Tree>
    <p:extLst>
      <p:ext uri="{BB962C8B-B14F-4D97-AF65-F5344CB8AC3E}">
        <p14:creationId xmlns:p14="http://schemas.microsoft.com/office/powerpoint/2010/main" val="2412170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7F723A4-4A51-1C1D-DD5F-8B0AB35BF2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1280" y="2623194"/>
            <a:ext cx="8300720" cy="4234806"/>
          </a:xfrm>
          <a:prstGeom prst="rect">
            <a:avLst/>
          </a:prstGeom>
        </p:spPr>
      </p:pic>
      <p:sp>
        <p:nvSpPr>
          <p:cNvPr id="9" name="TextBox 8">
            <a:extLst>
              <a:ext uri="{FF2B5EF4-FFF2-40B4-BE49-F238E27FC236}">
                <a16:creationId xmlns:a16="http://schemas.microsoft.com/office/drawing/2014/main" id="{ED018AC9-2814-E3F1-2518-DBB87E0CEE9D}"/>
              </a:ext>
            </a:extLst>
          </p:cNvPr>
          <p:cNvSpPr txBox="1"/>
          <p:nvPr/>
        </p:nvSpPr>
        <p:spPr>
          <a:xfrm>
            <a:off x="162560" y="1261011"/>
            <a:ext cx="6096000" cy="5330755"/>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Automated Corrugator Paper Reel Feeding System</a:t>
            </a:r>
          </a:p>
          <a:p>
            <a:endParaRPr lang="en-US" sz="1400" dirty="0">
              <a:latin typeface="Arial" panose="020B0604020202020204" pitchFamily="34" charset="0"/>
              <a:cs typeface="Arial" panose="020B0604020202020204" pitchFamily="34" charset="0"/>
            </a:endParaRPr>
          </a:p>
          <a:p>
            <a:pPr>
              <a:lnSpc>
                <a:spcPct val="150000"/>
              </a:lnSpc>
            </a:pPr>
            <a:r>
              <a:rPr lang="en-US" sz="1400" b="1" dirty="0">
                <a:solidFill>
                  <a:srgbClr val="FF6A00"/>
                </a:solidFill>
                <a:latin typeface="Arial" panose="020B0604020202020204" pitchFamily="34" charset="0"/>
                <a:cs typeface="Arial" panose="020B0604020202020204" pitchFamily="34" charset="0"/>
              </a:rPr>
              <a:t>INGETRANS</a:t>
            </a:r>
            <a:r>
              <a:rPr lang="en-US" sz="1400" dirty="0">
                <a:latin typeface="Arial" panose="020B0604020202020204" pitchFamily="34" charset="0"/>
                <a:cs typeface="Arial" panose="020B0604020202020204" pitchFamily="34" charset="0"/>
              </a:rPr>
              <a:t> is a complete automated solution for managing paper reel supply to multiple consumption points on the corrugator, including the automatic return of unused, or partially used, reels to their assigned storage locations. Designed and manufactured by Ingecart, this system eliminates forklift dependency, reduces accident risks, and significantly improves operational efficiency.</a:t>
            </a:r>
          </a:p>
          <a:p>
            <a:pPr>
              <a:lnSpc>
                <a:spcPct val="150000"/>
              </a:lnSpc>
            </a:pPr>
            <a:endParaRPr lang="en-US" sz="1400" dirty="0">
              <a:latin typeface="Arial" panose="020B0604020202020204" pitchFamily="34" charset="0"/>
              <a:cs typeface="Arial" panose="020B0604020202020204" pitchFamily="34" charset="0"/>
            </a:endParaRPr>
          </a:p>
          <a:p>
            <a:pPr>
              <a:lnSpc>
                <a:spcPct val="150000"/>
              </a:lnSpc>
            </a:pPr>
            <a:r>
              <a:rPr lang="en-US" sz="1400" b="1" dirty="0">
                <a:solidFill>
                  <a:srgbClr val="FF6A00"/>
                </a:solidFill>
                <a:latin typeface="Arial" panose="020B0604020202020204" pitchFamily="34" charset="0"/>
                <a:cs typeface="Arial" panose="020B0604020202020204" pitchFamily="34" charset="0"/>
              </a:rPr>
              <a:t>KEY FUNCTIONS</a:t>
            </a:r>
          </a:p>
          <a:p>
            <a:pPr>
              <a:lnSpc>
                <a:spcPct val="150000"/>
              </a:lnSpc>
            </a:pPr>
            <a:r>
              <a:rPr lang="en-US" sz="1400" dirty="0">
                <a:latin typeface="Arial" panose="020B0604020202020204" pitchFamily="34" charset="0"/>
                <a:cs typeface="Arial" panose="020B0604020202020204" pitchFamily="34" charset="0"/>
              </a:rPr>
              <a:t>- Automated movement: Rells are transported from warehouse to corrugator without manual intervention</a:t>
            </a:r>
          </a:p>
          <a:p>
            <a:pPr>
              <a:lnSpc>
                <a:spcPct val="150000"/>
              </a:lnSpc>
            </a:pPr>
            <a:r>
              <a:rPr lang="en-US" sz="1400" dirty="0">
                <a:latin typeface="Arial" panose="020B0604020202020204" pitchFamily="34" charset="0"/>
                <a:cs typeface="Arial" panose="020B0604020202020204" pitchFamily="34" charset="0"/>
              </a:rPr>
              <a:t>- Automated delivery: Precise delivery to multiple consumption points (single facers, roll stands)</a:t>
            </a:r>
          </a:p>
          <a:p>
            <a:pPr>
              <a:lnSpc>
                <a:spcPct val="150000"/>
              </a:lnSpc>
            </a:pPr>
            <a:r>
              <a:rPr lang="en-US" sz="1400" dirty="0">
                <a:latin typeface="Arial" panose="020B0604020202020204" pitchFamily="34" charset="0"/>
                <a:cs typeface="Arial" panose="020B0604020202020204" pitchFamily="34" charset="0"/>
              </a:rPr>
              <a:t>- Automated return: Unused rolls are automatically returned to assigned warehouse locations</a:t>
            </a:r>
          </a:p>
          <a:p>
            <a:pPr>
              <a:lnSpc>
                <a:spcPct val="150000"/>
              </a:lnSpc>
            </a:pPr>
            <a:r>
              <a:rPr lang="en-US" sz="1400" dirty="0">
                <a:latin typeface="Arial" panose="020B0604020202020204" pitchFamily="34" charset="0"/>
                <a:cs typeface="Arial" panose="020B0604020202020204" pitchFamily="34" charset="0"/>
              </a:rPr>
              <a:t>- Process integration: Works seamlessly with production planning systems</a:t>
            </a:r>
          </a:p>
        </p:txBody>
      </p:sp>
      <p:sp>
        <p:nvSpPr>
          <p:cNvPr id="10" name="TextBox 9">
            <a:extLst>
              <a:ext uri="{FF2B5EF4-FFF2-40B4-BE49-F238E27FC236}">
                <a16:creationId xmlns:a16="http://schemas.microsoft.com/office/drawing/2014/main" id="{3D98E43C-56B3-2DBD-F964-902B27C73381}"/>
              </a:ext>
            </a:extLst>
          </p:cNvPr>
          <p:cNvSpPr txBox="1"/>
          <p:nvPr/>
        </p:nvSpPr>
        <p:spPr>
          <a:xfrm>
            <a:off x="86612" y="127000"/>
            <a:ext cx="11638028" cy="646331"/>
          </a:xfrm>
          <a:prstGeom prst="rect">
            <a:avLst/>
          </a:prstGeom>
          <a:noFill/>
        </p:spPr>
        <p:txBody>
          <a:bodyPr wrap="square">
            <a:spAutoFit/>
          </a:bodyPr>
          <a:lstStyle/>
          <a:p>
            <a:r>
              <a:rPr lang="es-ES" sz="2800" b="1" dirty="0">
                <a:latin typeface="Montserrat"/>
              </a:rPr>
              <a:t>INTRALOGISTICS </a:t>
            </a:r>
            <a:r>
              <a:rPr lang="es-ES" sz="3600" b="1" dirty="0">
                <a:solidFill>
                  <a:srgbClr val="FF6A00"/>
                </a:solidFill>
                <a:latin typeface="Montserrat"/>
              </a:rPr>
              <a:t>INGETRANS</a:t>
            </a:r>
            <a:endParaRPr sz="3600" b="1" dirty="0">
              <a:solidFill>
                <a:srgbClr val="FF6A00"/>
              </a:solidFill>
              <a:latin typeface="Montserrat"/>
            </a:endParaRPr>
          </a:p>
        </p:txBody>
      </p:sp>
      <p:sp>
        <p:nvSpPr>
          <p:cNvPr id="11" name="Rectangle 10">
            <a:extLst>
              <a:ext uri="{FF2B5EF4-FFF2-40B4-BE49-F238E27FC236}">
                <a16:creationId xmlns:a16="http://schemas.microsoft.com/office/drawing/2014/main" id="{707227C6-2787-819B-1D06-09B5C846C3F3}"/>
              </a:ext>
            </a:extLst>
          </p:cNvPr>
          <p:cNvSpPr/>
          <p:nvPr/>
        </p:nvSpPr>
        <p:spPr>
          <a:xfrm>
            <a:off x="162560" y="773331"/>
            <a:ext cx="2052320" cy="71120"/>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41127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0C2D2-6290-2123-D144-5F0A67B311D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F9598B1-4FEF-BF57-CF21-71F26157AD39}"/>
              </a:ext>
            </a:extLst>
          </p:cNvPr>
          <p:cNvPicPr>
            <a:picLocks noChangeAspect="1"/>
          </p:cNvPicPr>
          <p:nvPr/>
        </p:nvPicPr>
        <p:blipFill>
          <a:blip r:embed="rId2">
            <a:alphaModFix amt="35000"/>
            <a:extLst>
              <a:ext uri="{28A0092B-C50C-407E-A947-70E740481C1C}">
                <a14:useLocalDpi xmlns:a14="http://schemas.microsoft.com/office/drawing/2010/main" val="0"/>
              </a:ext>
            </a:extLst>
          </a:blip>
          <a:stretch>
            <a:fillRect/>
          </a:stretch>
        </p:blipFill>
        <p:spPr>
          <a:xfrm>
            <a:off x="1907414" y="1611078"/>
            <a:ext cx="10284586" cy="5246922"/>
          </a:xfrm>
          <a:prstGeom prst="rect">
            <a:avLst/>
          </a:prstGeom>
        </p:spPr>
      </p:pic>
      <p:sp>
        <p:nvSpPr>
          <p:cNvPr id="10" name="TextBox 9">
            <a:extLst>
              <a:ext uri="{FF2B5EF4-FFF2-40B4-BE49-F238E27FC236}">
                <a16:creationId xmlns:a16="http://schemas.microsoft.com/office/drawing/2014/main" id="{0E9A0D14-CFD8-9C9B-999B-B3E05B4B7FDE}"/>
              </a:ext>
            </a:extLst>
          </p:cNvPr>
          <p:cNvSpPr txBox="1"/>
          <p:nvPr/>
        </p:nvSpPr>
        <p:spPr>
          <a:xfrm>
            <a:off x="86612" y="127000"/>
            <a:ext cx="11638028" cy="646331"/>
          </a:xfrm>
          <a:prstGeom prst="rect">
            <a:avLst/>
          </a:prstGeom>
          <a:noFill/>
        </p:spPr>
        <p:txBody>
          <a:bodyPr wrap="square">
            <a:spAutoFit/>
          </a:bodyPr>
          <a:lstStyle/>
          <a:p>
            <a:r>
              <a:rPr lang="es-ES" sz="2800" b="1" dirty="0">
                <a:latin typeface="Montserrat"/>
              </a:rPr>
              <a:t>INTRALOGISTICS </a:t>
            </a:r>
            <a:r>
              <a:rPr lang="es-ES" sz="3600" b="1" dirty="0">
                <a:solidFill>
                  <a:srgbClr val="FF6A00"/>
                </a:solidFill>
                <a:latin typeface="Montserrat"/>
              </a:rPr>
              <a:t>INGETRANS</a:t>
            </a:r>
            <a:endParaRPr sz="3600" b="1" dirty="0">
              <a:solidFill>
                <a:srgbClr val="FF6A00"/>
              </a:solidFill>
              <a:latin typeface="Montserrat"/>
            </a:endParaRPr>
          </a:p>
        </p:txBody>
      </p:sp>
      <p:sp>
        <p:nvSpPr>
          <p:cNvPr id="11" name="Rectangle 10">
            <a:extLst>
              <a:ext uri="{FF2B5EF4-FFF2-40B4-BE49-F238E27FC236}">
                <a16:creationId xmlns:a16="http://schemas.microsoft.com/office/drawing/2014/main" id="{6E653664-1DEC-836C-BFF7-C58E5BFC8AA4}"/>
              </a:ext>
            </a:extLst>
          </p:cNvPr>
          <p:cNvSpPr/>
          <p:nvPr/>
        </p:nvSpPr>
        <p:spPr>
          <a:xfrm>
            <a:off x="162560" y="773331"/>
            <a:ext cx="2052320" cy="71120"/>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 name="Table 1">
            <a:extLst>
              <a:ext uri="{FF2B5EF4-FFF2-40B4-BE49-F238E27FC236}">
                <a16:creationId xmlns:a16="http://schemas.microsoft.com/office/drawing/2014/main" id="{1B5E54B4-9280-268F-5ADE-4D235246E489}"/>
              </a:ext>
            </a:extLst>
          </p:cNvPr>
          <p:cNvGraphicFramePr>
            <a:graphicFrameLocks noGrp="1"/>
          </p:cNvGraphicFramePr>
          <p:nvPr>
            <p:extLst>
              <p:ext uri="{D42A27DB-BD31-4B8C-83A1-F6EECF244321}">
                <p14:modId xmlns:p14="http://schemas.microsoft.com/office/powerpoint/2010/main" val="3898866977"/>
              </p:ext>
            </p:extLst>
          </p:nvPr>
        </p:nvGraphicFramePr>
        <p:xfrm>
          <a:off x="396241" y="2590755"/>
          <a:ext cx="5509385" cy="1422400"/>
        </p:xfrm>
        <a:graphic>
          <a:graphicData uri="http://schemas.openxmlformats.org/drawingml/2006/table">
            <a:tbl>
              <a:tblPr/>
              <a:tblGrid>
                <a:gridCol w="2956559">
                  <a:extLst>
                    <a:ext uri="{9D8B030D-6E8A-4147-A177-3AD203B41FA5}">
                      <a16:colId xmlns:a16="http://schemas.microsoft.com/office/drawing/2014/main" val="755443637"/>
                    </a:ext>
                  </a:extLst>
                </a:gridCol>
                <a:gridCol w="1239520">
                  <a:extLst>
                    <a:ext uri="{9D8B030D-6E8A-4147-A177-3AD203B41FA5}">
                      <a16:colId xmlns:a16="http://schemas.microsoft.com/office/drawing/2014/main" val="3246979747"/>
                    </a:ext>
                  </a:extLst>
                </a:gridCol>
                <a:gridCol w="1313306">
                  <a:extLst>
                    <a:ext uri="{9D8B030D-6E8A-4147-A177-3AD203B41FA5}">
                      <a16:colId xmlns:a16="http://schemas.microsoft.com/office/drawing/2014/main" val="118591411"/>
                    </a:ext>
                  </a:extLst>
                </a:gridCol>
              </a:tblGrid>
              <a:tr h="0">
                <a:tc>
                  <a:txBody>
                    <a:bodyPr/>
                    <a:lstStyle/>
                    <a:p>
                      <a:pPr algn="l">
                        <a:lnSpc>
                          <a:spcPts val="1875"/>
                        </a:lnSpc>
                        <a:buNone/>
                      </a:pPr>
                      <a:r>
                        <a:rPr lang="en-US" b="1" noProof="0" dirty="0">
                          <a:effectLst/>
                          <a:latin typeface="quote-cjk-patch"/>
                        </a:rPr>
                        <a:t>Description</a:t>
                      </a:r>
                    </a:p>
                  </a:txBody>
                  <a:tcPr marR="121920" marT="76200" marB="76200" anchor="ctr">
                    <a:lnL>
                      <a:noFill/>
                    </a:lnL>
                    <a:lnR>
                      <a:noFill/>
                    </a:lnR>
                    <a:lnT>
                      <a:noFill/>
                    </a:lnT>
                    <a:lnB>
                      <a:noFill/>
                    </a:lnB>
                    <a:noFill/>
                  </a:tcPr>
                </a:tc>
                <a:tc>
                  <a:txBody>
                    <a:bodyPr/>
                    <a:lstStyle/>
                    <a:p>
                      <a:pPr algn="l">
                        <a:lnSpc>
                          <a:spcPts val="1875"/>
                        </a:lnSpc>
                        <a:buNone/>
                      </a:pPr>
                      <a:r>
                        <a:rPr lang="en-US" b="1" noProof="0" dirty="0">
                          <a:effectLst/>
                          <a:latin typeface="quote-cjk-patch"/>
                        </a:rPr>
                        <a:t>Seconds</a:t>
                      </a:r>
                    </a:p>
                  </a:txBody>
                  <a:tcPr marL="121920" marR="121920" marT="76200" marB="76200" anchor="ctr">
                    <a:lnL>
                      <a:noFill/>
                    </a:lnL>
                    <a:lnR>
                      <a:noFill/>
                    </a:lnR>
                    <a:lnT>
                      <a:noFill/>
                    </a:lnT>
                    <a:lnB>
                      <a:noFill/>
                    </a:lnB>
                    <a:noFill/>
                  </a:tcPr>
                </a:tc>
                <a:tc>
                  <a:txBody>
                    <a:bodyPr/>
                    <a:lstStyle/>
                    <a:p>
                      <a:pPr algn="l">
                        <a:lnSpc>
                          <a:spcPts val="1875"/>
                        </a:lnSpc>
                        <a:buNone/>
                      </a:pPr>
                      <a:r>
                        <a:rPr lang="en-US" b="1" noProof="0" dirty="0">
                          <a:effectLst/>
                          <a:latin typeface="quote-cjk-patch"/>
                        </a:rPr>
                        <a:t>Minutes</a:t>
                      </a:r>
                    </a:p>
                  </a:txBody>
                  <a:tcPr marL="121920" marR="121920" marT="76200" marB="76200" anchor="ctr">
                    <a:lnL>
                      <a:noFill/>
                    </a:lnL>
                    <a:lnR>
                      <a:noFill/>
                    </a:lnR>
                    <a:lnT>
                      <a:noFill/>
                    </a:lnT>
                    <a:lnB>
                      <a:noFill/>
                    </a:lnB>
                    <a:noFill/>
                  </a:tcPr>
                </a:tc>
                <a:extLst>
                  <a:ext uri="{0D108BD9-81ED-4DB2-BD59-A6C34878D82A}">
                    <a16:rowId xmlns:a16="http://schemas.microsoft.com/office/drawing/2014/main" val="2087901042"/>
                  </a:ext>
                </a:extLst>
              </a:tr>
              <a:tr h="0">
                <a:tc>
                  <a:txBody>
                    <a:bodyPr/>
                    <a:lstStyle/>
                    <a:p>
                      <a:pPr>
                        <a:lnSpc>
                          <a:spcPts val="1875"/>
                        </a:lnSpc>
                        <a:buNone/>
                      </a:pPr>
                      <a:r>
                        <a:rPr lang="en-US" b="1" noProof="0" dirty="0">
                          <a:solidFill>
                            <a:srgbClr val="FF6A00"/>
                          </a:solidFill>
                          <a:effectLst/>
                          <a:latin typeface="quote-cjk-patch"/>
                        </a:rPr>
                        <a:t>Total cycle time – Delivery &amp; return of 5 rolls</a:t>
                      </a:r>
                    </a:p>
                  </a:txBody>
                  <a:tcPr marR="121920" marT="76200" marB="76200" anchor="ctr">
                    <a:lnL>
                      <a:noFill/>
                    </a:lnL>
                    <a:lnR>
                      <a:noFill/>
                    </a:lnR>
                    <a:lnT>
                      <a:noFill/>
                    </a:lnT>
                    <a:lnB>
                      <a:noFill/>
                    </a:lnB>
                    <a:noFill/>
                  </a:tcPr>
                </a:tc>
                <a:tc>
                  <a:txBody>
                    <a:bodyPr/>
                    <a:lstStyle/>
                    <a:p>
                      <a:pPr>
                        <a:lnSpc>
                          <a:spcPts val="1875"/>
                        </a:lnSpc>
                        <a:buNone/>
                      </a:pPr>
                      <a:r>
                        <a:rPr lang="en-US" b="0" noProof="0" dirty="0">
                          <a:effectLst/>
                          <a:latin typeface="quote-cjk-patch"/>
                        </a:rPr>
                        <a:t>346.72</a:t>
                      </a:r>
                    </a:p>
                  </a:txBody>
                  <a:tcPr marL="121920" marR="121920" marT="76200" marB="76200" anchor="ctr">
                    <a:lnL>
                      <a:noFill/>
                    </a:lnL>
                    <a:lnR>
                      <a:noFill/>
                    </a:lnR>
                    <a:lnT>
                      <a:noFill/>
                    </a:lnT>
                    <a:lnB>
                      <a:noFill/>
                    </a:lnB>
                    <a:noFill/>
                  </a:tcPr>
                </a:tc>
                <a:tc>
                  <a:txBody>
                    <a:bodyPr/>
                    <a:lstStyle/>
                    <a:p>
                      <a:pPr>
                        <a:lnSpc>
                          <a:spcPts val="1875"/>
                        </a:lnSpc>
                        <a:buNone/>
                      </a:pPr>
                      <a:r>
                        <a:rPr lang="en-US" b="1" noProof="0" dirty="0">
                          <a:solidFill>
                            <a:srgbClr val="FF6A00"/>
                          </a:solidFill>
                          <a:effectLst/>
                          <a:latin typeface="quote-cjk-patch"/>
                        </a:rPr>
                        <a:t>5.78</a:t>
                      </a:r>
                    </a:p>
                  </a:txBody>
                  <a:tcPr marL="121920" marT="76200" marB="76200" anchor="ctr">
                    <a:lnL>
                      <a:noFill/>
                    </a:lnL>
                    <a:lnR>
                      <a:noFill/>
                    </a:lnR>
                    <a:lnT>
                      <a:noFill/>
                    </a:lnT>
                    <a:lnB>
                      <a:noFill/>
                    </a:lnB>
                    <a:noFill/>
                  </a:tcPr>
                </a:tc>
                <a:extLst>
                  <a:ext uri="{0D108BD9-81ED-4DB2-BD59-A6C34878D82A}">
                    <a16:rowId xmlns:a16="http://schemas.microsoft.com/office/drawing/2014/main" val="4168658969"/>
                  </a:ext>
                </a:extLst>
              </a:tr>
              <a:tr h="0">
                <a:tc>
                  <a:txBody>
                    <a:bodyPr/>
                    <a:lstStyle/>
                    <a:p>
                      <a:pPr>
                        <a:lnSpc>
                          <a:spcPts val="1875"/>
                        </a:lnSpc>
                        <a:buNone/>
                      </a:pPr>
                      <a:r>
                        <a:rPr lang="en-US" b="0" noProof="0" dirty="0">
                          <a:effectLst/>
                          <a:latin typeface="quote-cjk-patch"/>
                        </a:rPr>
                        <a:t>Average time per roll</a:t>
                      </a:r>
                    </a:p>
                  </a:txBody>
                  <a:tcPr marR="121920" marT="76200" marB="76200" anchor="ctr">
                    <a:lnL>
                      <a:noFill/>
                    </a:lnL>
                    <a:lnR>
                      <a:noFill/>
                    </a:lnR>
                    <a:lnT>
                      <a:noFill/>
                    </a:lnT>
                    <a:lnB>
                      <a:noFill/>
                    </a:lnB>
                    <a:noFill/>
                  </a:tcPr>
                </a:tc>
                <a:tc>
                  <a:txBody>
                    <a:bodyPr/>
                    <a:lstStyle/>
                    <a:p>
                      <a:pPr>
                        <a:lnSpc>
                          <a:spcPts val="1875"/>
                        </a:lnSpc>
                        <a:buNone/>
                      </a:pPr>
                      <a:r>
                        <a:rPr lang="en-US" b="0" noProof="0" dirty="0">
                          <a:effectLst/>
                          <a:latin typeface="quote-cjk-patch"/>
                        </a:rPr>
                        <a:t>69.34</a:t>
                      </a:r>
                    </a:p>
                  </a:txBody>
                  <a:tcPr marL="121920" marR="121920" marT="76200" marB="76200" anchor="ctr">
                    <a:lnL>
                      <a:noFill/>
                    </a:lnL>
                    <a:lnR>
                      <a:noFill/>
                    </a:lnR>
                    <a:lnT>
                      <a:noFill/>
                    </a:lnT>
                    <a:lnB>
                      <a:noFill/>
                    </a:lnB>
                    <a:noFill/>
                  </a:tcPr>
                </a:tc>
                <a:tc>
                  <a:txBody>
                    <a:bodyPr/>
                    <a:lstStyle/>
                    <a:p>
                      <a:pPr>
                        <a:lnSpc>
                          <a:spcPts val="1875"/>
                        </a:lnSpc>
                        <a:buNone/>
                      </a:pPr>
                      <a:r>
                        <a:rPr lang="en-US" b="0" noProof="0" dirty="0">
                          <a:effectLst/>
                          <a:latin typeface="quote-cjk-patch"/>
                        </a:rPr>
                        <a:t>1.16</a:t>
                      </a:r>
                    </a:p>
                  </a:txBody>
                  <a:tcPr marL="121920" marT="76200" marB="76200" anchor="ctr">
                    <a:lnL>
                      <a:noFill/>
                    </a:lnL>
                    <a:lnR>
                      <a:noFill/>
                    </a:lnR>
                    <a:lnT>
                      <a:noFill/>
                    </a:lnT>
                    <a:lnB>
                      <a:noFill/>
                    </a:lnB>
                    <a:noFill/>
                  </a:tcPr>
                </a:tc>
                <a:extLst>
                  <a:ext uri="{0D108BD9-81ED-4DB2-BD59-A6C34878D82A}">
                    <a16:rowId xmlns:a16="http://schemas.microsoft.com/office/drawing/2014/main" val="2247825923"/>
                  </a:ext>
                </a:extLst>
              </a:tr>
            </a:tbl>
          </a:graphicData>
        </a:graphic>
      </p:graphicFrame>
      <p:graphicFrame>
        <p:nvGraphicFramePr>
          <p:cNvPr id="3" name="Table 2">
            <a:extLst>
              <a:ext uri="{FF2B5EF4-FFF2-40B4-BE49-F238E27FC236}">
                <a16:creationId xmlns:a16="http://schemas.microsoft.com/office/drawing/2014/main" id="{3D564488-1625-462A-5B58-934A0EAB9FE3}"/>
              </a:ext>
            </a:extLst>
          </p:cNvPr>
          <p:cNvGraphicFramePr>
            <a:graphicFrameLocks noGrp="1"/>
          </p:cNvGraphicFramePr>
          <p:nvPr>
            <p:extLst>
              <p:ext uri="{D42A27DB-BD31-4B8C-83A1-F6EECF244321}">
                <p14:modId xmlns:p14="http://schemas.microsoft.com/office/powerpoint/2010/main" val="916911449"/>
              </p:ext>
            </p:extLst>
          </p:nvPr>
        </p:nvGraphicFramePr>
        <p:xfrm>
          <a:off x="6461760" y="2590755"/>
          <a:ext cx="5730240" cy="1663700"/>
        </p:xfrm>
        <a:graphic>
          <a:graphicData uri="http://schemas.openxmlformats.org/drawingml/2006/table">
            <a:tbl>
              <a:tblPr/>
              <a:tblGrid>
                <a:gridCol w="1910080">
                  <a:extLst>
                    <a:ext uri="{9D8B030D-6E8A-4147-A177-3AD203B41FA5}">
                      <a16:colId xmlns:a16="http://schemas.microsoft.com/office/drawing/2014/main" val="409564185"/>
                    </a:ext>
                  </a:extLst>
                </a:gridCol>
                <a:gridCol w="1910080">
                  <a:extLst>
                    <a:ext uri="{9D8B030D-6E8A-4147-A177-3AD203B41FA5}">
                      <a16:colId xmlns:a16="http://schemas.microsoft.com/office/drawing/2014/main" val="1230133394"/>
                    </a:ext>
                  </a:extLst>
                </a:gridCol>
                <a:gridCol w="1910080">
                  <a:extLst>
                    <a:ext uri="{9D8B030D-6E8A-4147-A177-3AD203B41FA5}">
                      <a16:colId xmlns:a16="http://schemas.microsoft.com/office/drawing/2014/main" val="22538282"/>
                    </a:ext>
                  </a:extLst>
                </a:gridCol>
              </a:tblGrid>
              <a:tr h="0">
                <a:tc>
                  <a:txBody>
                    <a:bodyPr/>
                    <a:lstStyle/>
                    <a:p>
                      <a:pPr algn="l">
                        <a:lnSpc>
                          <a:spcPts val="1875"/>
                        </a:lnSpc>
                        <a:buNone/>
                      </a:pPr>
                      <a:r>
                        <a:rPr lang="en-US" b="0" noProof="0" dirty="0">
                          <a:effectLst/>
                          <a:latin typeface="quote-cjk-patch"/>
                        </a:rPr>
                        <a:t>Parameter</a:t>
                      </a:r>
                    </a:p>
                  </a:txBody>
                  <a:tcPr marR="121920" marT="76200" marB="76200" anchor="ctr">
                    <a:lnL>
                      <a:noFill/>
                    </a:lnL>
                    <a:lnR>
                      <a:noFill/>
                    </a:lnR>
                    <a:lnT>
                      <a:noFill/>
                    </a:lnT>
                    <a:lnB>
                      <a:noFill/>
                    </a:lnB>
                    <a:noFill/>
                  </a:tcPr>
                </a:tc>
                <a:tc>
                  <a:txBody>
                    <a:bodyPr/>
                    <a:lstStyle/>
                    <a:p>
                      <a:pPr algn="l">
                        <a:lnSpc>
                          <a:spcPts val="1875"/>
                        </a:lnSpc>
                        <a:buNone/>
                      </a:pPr>
                      <a:r>
                        <a:rPr lang="en-US" b="0" noProof="0" dirty="0">
                          <a:effectLst/>
                          <a:latin typeface="quote-cjk-patch"/>
                        </a:rPr>
                        <a:t>Value</a:t>
                      </a:r>
                    </a:p>
                  </a:txBody>
                  <a:tcPr marL="121920" marR="121920" marT="76200" marB="76200" anchor="ctr">
                    <a:lnL>
                      <a:noFill/>
                    </a:lnL>
                    <a:lnR>
                      <a:noFill/>
                    </a:lnR>
                    <a:lnT>
                      <a:noFill/>
                    </a:lnT>
                    <a:lnB>
                      <a:noFill/>
                    </a:lnB>
                    <a:noFill/>
                  </a:tcPr>
                </a:tc>
                <a:tc>
                  <a:txBody>
                    <a:bodyPr/>
                    <a:lstStyle/>
                    <a:p>
                      <a:pPr algn="l">
                        <a:lnSpc>
                          <a:spcPts val="1875"/>
                        </a:lnSpc>
                        <a:buNone/>
                      </a:pPr>
                      <a:r>
                        <a:rPr lang="en-US" b="0" noProof="0" dirty="0">
                          <a:effectLst/>
                          <a:latin typeface="quote-cjk-patch"/>
                        </a:rPr>
                        <a:t>Unit</a:t>
                      </a:r>
                    </a:p>
                  </a:txBody>
                  <a:tcPr marL="121920" marR="121920" marT="76200" marB="76200" anchor="ctr">
                    <a:lnL>
                      <a:noFill/>
                    </a:lnL>
                    <a:lnR>
                      <a:noFill/>
                    </a:lnR>
                    <a:lnT>
                      <a:noFill/>
                    </a:lnT>
                    <a:lnB>
                      <a:noFill/>
                    </a:lnB>
                    <a:noFill/>
                  </a:tcPr>
                </a:tc>
                <a:extLst>
                  <a:ext uri="{0D108BD9-81ED-4DB2-BD59-A6C34878D82A}">
                    <a16:rowId xmlns:a16="http://schemas.microsoft.com/office/drawing/2014/main" val="433367182"/>
                  </a:ext>
                </a:extLst>
              </a:tr>
              <a:tr h="0">
                <a:tc>
                  <a:txBody>
                    <a:bodyPr/>
                    <a:lstStyle/>
                    <a:p>
                      <a:pPr>
                        <a:lnSpc>
                          <a:spcPts val="1875"/>
                        </a:lnSpc>
                        <a:buNone/>
                      </a:pPr>
                      <a:r>
                        <a:rPr lang="en-US" b="0" noProof="0" dirty="0">
                          <a:effectLst/>
                          <a:latin typeface="quote-cjk-patch"/>
                        </a:rPr>
                        <a:t>Corrugator speed</a:t>
                      </a:r>
                    </a:p>
                  </a:txBody>
                  <a:tcPr marR="121920" marT="76200" marB="76200" anchor="ctr">
                    <a:lnL>
                      <a:noFill/>
                    </a:lnL>
                    <a:lnR>
                      <a:noFill/>
                    </a:lnR>
                    <a:lnT>
                      <a:noFill/>
                    </a:lnT>
                    <a:lnB>
                      <a:noFill/>
                    </a:lnB>
                    <a:noFill/>
                  </a:tcPr>
                </a:tc>
                <a:tc>
                  <a:txBody>
                    <a:bodyPr/>
                    <a:lstStyle/>
                    <a:p>
                      <a:pPr>
                        <a:lnSpc>
                          <a:spcPts val="1875"/>
                        </a:lnSpc>
                        <a:buNone/>
                      </a:pPr>
                      <a:r>
                        <a:rPr lang="en-US" b="0" noProof="0" dirty="0">
                          <a:effectLst/>
                          <a:latin typeface="quote-cjk-patch"/>
                        </a:rPr>
                        <a:t>300</a:t>
                      </a:r>
                    </a:p>
                  </a:txBody>
                  <a:tcPr marL="121920" marR="121920" marT="76200" marB="76200" anchor="ctr">
                    <a:lnL>
                      <a:noFill/>
                    </a:lnL>
                    <a:lnR>
                      <a:noFill/>
                    </a:lnR>
                    <a:lnT>
                      <a:noFill/>
                    </a:lnT>
                    <a:lnB>
                      <a:noFill/>
                    </a:lnB>
                    <a:noFill/>
                  </a:tcPr>
                </a:tc>
                <a:tc>
                  <a:txBody>
                    <a:bodyPr/>
                    <a:lstStyle/>
                    <a:p>
                      <a:pPr>
                        <a:lnSpc>
                          <a:spcPts val="1875"/>
                        </a:lnSpc>
                        <a:buNone/>
                      </a:pPr>
                      <a:r>
                        <a:rPr lang="en-US" b="0" noProof="0" dirty="0">
                          <a:effectLst/>
                          <a:latin typeface="quote-cjk-patch"/>
                        </a:rPr>
                        <a:t>m/min</a:t>
                      </a:r>
                    </a:p>
                  </a:txBody>
                  <a:tcPr marL="121920" marT="76200" marB="76200" anchor="ctr">
                    <a:lnL>
                      <a:noFill/>
                    </a:lnL>
                    <a:lnR>
                      <a:noFill/>
                    </a:lnR>
                    <a:lnT>
                      <a:noFill/>
                    </a:lnT>
                    <a:lnB>
                      <a:noFill/>
                    </a:lnB>
                    <a:noFill/>
                  </a:tcPr>
                </a:tc>
                <a:extLst>
                  <a:ext uri="{0D108BD9-81ED-4DB2-BD59-A6C34878D82A}">
                    <a16:rowId xmlns:a16="http://schemas.microsoft.com/office/drawing/2014/main" val="4053433006"/>
                  </a:ext>
                </a:extLst>
              </a:tr>
              <a:tr h="0">
                <a:tc>
                  <a:txBody>
                    <a:bodyPr/>
                    <a:lstStyle/>
                    <a:p>
                      <a:pPr>
                        <a:lnSpc>
                          <a:spcPts val="1875"/>
                        </a:lnSpc>
                        <a:buNone/>
                      </a:pPr>
                      <a:r>
                        <a:rPr lang="en-US" b="1" noProof="0" dirty="0">
                          <a:effectLst/>
                          <a:latin typeface="quote-cjk-patch"/>
                        </a:rPr>
                        <a:t>Minimum order length at 300 m/min</a:t>
                      </a:r>
                      <a:endParaRPr lang="en-US" b="0" noProof="0" dirty="0">
                        <a:effectLst/>
                        <a:latin typeface="quote-cjk-patch"/>
                      </a:endParaRPr>
                    </a:p>
                  </a:txBody>
                  <a:tcPr marR="121920" marT="76200" marB="76200" anchor="ctr">
                    <a:lnL>
                      <a:noFill/>
                    </a:lnL>
                    <a:lnR>
                      <a:noFill/>
                    </a:lnR>
                    <a:lnT>
                      <a:noFill/>
                    </a:lnT>
                    <a:lnB>
                      <a:noFill/>
                    </a:lnB>
                    <a:noFill/>
                  </a:tcPr>
                </a:tc>
                <a:tc>
                  <a:txBody>
                    <a:bodyPr/>
                    <a:lstStyle/>
                    <a:p>
                      <a:pPr>
                        <a:lnSpc>
                          <a:spcPts val="1875"/>
                        </a:lnSpc>
                        <a:buNone/>
                      </a:pPr>
                      <a:r>
                        <a:rPr lang="en-US" b="1" noProof="0" dirty="0">
                          <a:effectLst/>
                          <a:latin typeface="quote-cjk-patch"/>
                        </a:rPr>
                        <a:t>1,733.6</a:t>
                      </a:r>
                      <a:endParaRPr lang="en-US" b="0" noProof="0" dirty="0">
                        <a:effectLst/>
                        <a:latin typeface="quote-cjk-patch"/>
                      </a:endParaRPr>
                    </a:p>
                  </a:txBody>
                  <a:tcPr marL="121920" marR="121920" marT="76200" marB="76200" anchor="ctr">
                    <a:lnL>
                      <a:noFill/>
                    </a:lnL>
                    <a:lnR>
                      <a:noFill/>
                    </a:lnR>
                    <a:lnT>
                      <a:noFill/>
                    </a:lnT>
                    <a:lnB>
                      <a:noFill/>
                    </a:lnB>
                    <a:noFill/>
                  </a:tcPr>
                </a:tc>
                <a:tc>
                  <a:txBody>
                    <a:bodyPr/>
                    <a:lstStyle/>
                    <a:p>
                      <a:pPr>
                        <a:lnSpc>
                          <a:spcPts val="1875"/>
                        </a:lnSpc>
                        <a:buNone/>
                      </a:pPr>
                      <a:r>
                        <a:rPr lang="en-US" b="1" noProof="0" dirty="0">
                          <a:effectLst/>
                          <a:latin typeface="quote-cjk-patch"/>
                        </a:rPr>
                        <a:t>meters</a:t>
                      </a:r>
                      <a:endParaRPr lang="en-US" b="0" noProof="0" dirty="0">
                        <a:effectLst/>
                        <a:latin typeface="quote-cjk-patch"/>
                      </a:endParaRPr>
                    </a:p>
                  </a:txBody>
                  <a:tcPr marL="121920" marT="76200" marB="76200" anchor="ctr">
                    <a:lnL>
                      <a:noFill/>
                    </a:lnL>
                    <a:lnR>
                      <a:noFill/>
                    </a:lnR>
                    <a:lnT>
                      <a:noFill/>
                    </a:lnT>
                    <a:lnB>
                      <a:noFill/>
                    </a:lnB>
                    <a:noFill/>
                  </a:tcPr>
                </a:tc>
                <a:extLst>
                  <a:ext uri="{0D108BD9-81ED-4DB2-BD59-A6C34878D82A}">
                    <a16:rowId xmlns:a16="http://schemas.microsoft.com/office/drawing/2014/main" val="3786383207"/>
                  </a:ext>
                </a:extLst>
              </a:tr>
            </a:tbl>
          </a:graphicData>
        </a:graphic>
      </p:graphicFrame>
      <p:sp>
        <p:nvSpPr>
          <p:cNvPr id="4" name="Rectangle 1">
            <a:extLst>
              <a:ext uri="{FF2B5EF4-FFF2-40B4-BE49-F238E27FC236}">
                <a16:creationId xmlns:a16="http://schemas.microsoft.com/office/drawing/2014/main" id="{ACC1285D-088B-218F-8290-DE0A5B78CCCB}"/>
              </a:ext>
            </a:extLst>
          </p:cNvPr>
          <p:cNvSpPr>
            <a:spLocks noChangeArrowheads="1"/>
          </p:cNvSpPr>
          <p:nvPr/>
        </p:nvSpPr>
        <p:spPr bwMode="auto">
          <a:xfrm>
            <a:off x="541146" y="920149"/>
            <a:ext cx="9743440" cy="1877340"/>
          </a:xfrm>
          <a:prstGeom prst="rect">
            <a:avLst/>
          </a:prstGeom>
          <a:noFill/>
          <a:ln>
            <a:noFill/>
          </a:ln>
          <a:effectLst/>
        </p:spPr>
        <p:txBody>
          <a:bodyPr vert="horz" wrap="square" lIns="0" tIns="203136" rIns="0" bIns="101568"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1600" noProof="0" dirty="0">
                <a:cs typeface="Arial" panose="020B0604020202020204" pitchFamily="34" charset="0"/>
              </a:rPr>
              <a:t>Ingetrans– Corrugator Relel  Change Cycle Time Calculation</a:t>
            </a:r>
          </a:p>
          <a:p>
            <a:pPr marL="0" marR="0" lvl="0" indent="0" algn="l" defTabSz="914400" rtl="0" eaLnBrk="0" fontAlgn="base" latinLnBrk="0" hangingPunct="0">
              <a:lnSpc>
                <a:spcPct val="100000"/>
              </a:lnSpc>
              <a:spcBef>
                <a:spcPct val="0"/>
              </a:spcBef>
              <a:spcAft>
                <a:spcPct val="0"/>
              </a:spcAft>
              <a:buClrTx/>
              <a:buSzTx/>
              <a:buFontTx/>
              <a:buNone/>
              <a:tabLst/>
            </a:pPr>
            <a:endParaRPr lang="en-US" sz="1600" noProof="0" dirty="0">
              <a:cs typeface="Arial" panose="020B0604020202020204" pitchFamily="34" charset="0"/>
            </a:endParaRPr>
          </a:p>
          <a:p>
            <a:r>
              <a:rPr lang="en-US" sz="1600" b="1" noProof="0" dirty="0">
                <a:cs typeface="Arial" panose="020B0604020202020204" pitchFamily="34" charset="0"/>
              </a:rPr>
              <a:t>Calculation basis: Delivery and return </a:t>
            </a:r>
            <a:r>
              <a:rPr lang="en-US" b="1" noProof="0" dirty="0">
                <a:solidFill>
                  <a:srgbClr val="FF6A00"/>
                </a:solidFill>
                <a:cs typeface="Arial" panose="020B0604020202020204" pitchFamily="34" charset="0"/>
              </a:rPr>
              <a:t>cycle for 5 rolls, </a:t>
            </a:r>
          </a:p>
          <a:p>
            <a:r>
              <a:rPr lang="en-US" sz="1600" b="1" noProof="0" dirty="0">
                <a:cs typeface="Arial" panose="020B0604020202020204" pitchFamily="34" charset="0"/>
              </a:rPr>
              <a:t>Minimum Order Length at 300 m/min</a:t>
            </a:r>
          </a:p>
          <a:p>
            <a:pPr marL="0" marR="0" lvl="0" indent="0" algn="l" defTabSz="914400" rtl="0" eaLnBrk="0" fontAlgn="base" latinLnBrk="0" hangingPunct="0">
              <a:lnSpc>
                <a:spcPct val="100000"/>
              </a:lnSpc>
              <a:spcBef>
                <a:spcPct val="0"/>
              </a:spcBef>
              <a:spcAft>
                <a:spcPct val="0"/>
              </a:spcAft>
              <a:buClrTx/>
              <a:buSzTx/>
              <a:buFontTx/>
              <a:buNone/>
              <a:tabLst/>
            </a:pPr>
            <a:endParaRPr lang="en-US" sz="1600" noProof="0"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2000" b="0" i="0" u="none" strike="noStrike" cap="none" normalizeH="0" baseline="0" noProof="0" dirty="0">
              <a:ln>
                <a:noFill/>
              </a:ln>
              <a:solidFill>
                <a:schemeClr val="tx1"/>
              </a:solidFill>
              <a:effectLst/>
              <a:latin typeface="Arial" panose="020B0604020202020204" pitchFamily="34" charset="0"/>
            </a:endParaRPr>
          </a:p>
        </p:txBody>
      </p:sp>
      <p:sp>
        <p:nvSpPr>
          <p:cNvPr id="5" name="Rectangle 2">
            <a:extLst>
              <a:ext uri="{FF2B5EF4-FFF2-40B4-BE49-F238E27FC236}">
                <a16:creationId xmlns:a16="http://schemas.microsoft.com/office/drawing/2014/main" id="{79F95F93-0399-4858-0970-E5D2D58E20D8}"/>
              </a:ext>
            </a:extLst>
          </p:cNvPr>
          <p:cNvSpPr>
            <a:spLocks noChangeArrowheads="1"/>
          </p:cNvSpPr>
          <p:nvPr/>
        </p:nvSpPr>
        <p:spPr bwMode="auto">
          <a:xfrm>
            <a:off x="-190374" y="5833194"/>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203136" rIns="0" bIns="203136" numCol="1" anchor="ctr" anchorCtr="0" compatLnSpc="1">
            <a:prstTxWarp prst="textNoShape">
              <a:avLst/>
            </a:prstTxWarp>
            <a:spAutoFit/>
          </a:bodyPr>
          <a:lstStyle/>
          <a:p>
            <a:endParaRPr lang="es-ES"/>
          </a:p>
        </p:txBody>
      </p:sp>
    </p:spTree>
    <p:extLst>
      <p:ext uri="{BB962C8B-B14F-4D97-AF65-F5344CB8AC3E}">
        <p14:creationId xmlns:p14="http://schemas.microsoft.com/office/powerpoint/2010/main" val="2215262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289C4-D3C1-602F-1BD1-D9E541A22F1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FDE5C7F-5E05-2EC7-AB06-6BA2621AFAFC}"/>
              </a:ext>
            </a:extLst>
          </p:cNvPr>
          <p:cNvPicPr>
            <a:picLocks noChangeAspect="1"/>
          </p:cNvPicPr>
          <p:nvPr/>
        </p:nvPicPr>
        <p:blipFill>
          <a:blip r:embed="rId2">
            <a:extLst>
              <a:ext uri="{28A0092B-C50C-407E-A947-70E740481C1C}">
                <a14:useLocalDpi xmlns:a14="http://schemas.microsoft.com/office/drawing/2010/main" val="0"/>
              </a:ext>
            </a:extLst>
          </a:blip>
          <a:srcRect r="33357"/>
          <a:stretch>
            <a:fillRect/>
          </a:stretch>
        </p:blipFill>
        <p:spPr>
          <a:xfrm>
            <a:off x="4336654" y="844451"/>
            <a:ext cx="7855346" cy="6013549"/>
          </a:xfrm>
          <a:prstGeom prst="rect">
            <a:avLst/>
          </a:prstGeom>
        </p:spPr>
      </p:pic>
      <p:sp>
        <p:nvSpPr>
          <p:cNvPr id="9" name="TextBox 8">
            <a:extLst>
              <a:ext uri="{FF2B5EF4-FFF2-40B4-BE49-F238E27FC236}">
                <a16:creationId xmlns:a16="http://schemas.microsoft.com/office/drawing/2014/main" id="{EBC99A36-878F-11F8-050D-E6CCDA8B8B25}"/>
              </a:ext>
            </a:extLst>
          </p:cNvPr>
          <p:cNvSpPr txBox="1"/>
          <p:nvPr/>
        </p:nvSpPr>
        <p:spPr>
          <a:xfrm>
            <a:off x="162560" y="1098451"/>
            <a:ext cx="6096000" cy="5478423"/>
          </a:xfrm>
          <a:prstGeom prst="rect">
            <a:avLst/>
          </a:prstGeom>
          <a:noFill/>
        </p:spPr>
        <p:txBody>
          <a:bodyPr wrap="square">
            <a:spAutoFit/>
          </a:bodyPr>
          <a:lstStyle/>
          <a:p>
            <a:r>
              <a:rPr lang="en-US" sz="1400" b="1" dirty="0">
                <a:solidFill>
                  <a:srgbClr val="FF6A00"/>
                </a:solidFill>
                <a:latin typeface="Arial" panose="020B0604020202020204" pitchFamily="34" charset="0"/>
                <a:cs typeface="Arial" panose="020B0604020202020204" pitchFamily="34" charset="0"/>
              </a:rPr>
              <a:t>TECHNICAL SPECIFICATIONS</a:t>
            </a:r>
          </a:p>
          <a:p>
            <a:endParaRPr lang="en-US" sz="1400" b="1" dirty="0">
              <a:solidFill>
                <a:srgbClr val="FF6A00"/>
              </a:solidFill>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 System type: Surface rail-guided vehicle</a:t>
            </a:r>
          </a:p>
          <a:p>
            <a:r>
              <a:rPr lang="en-US" sz="1400" dirty="0">
                <a:latin typeface="Arial" panose="020B0604020202020204" pitchFamily="34" charset="0"/>
                <a:cs typeface="Arial" panose="020B0604020202020204" pitchFamily="34" charset="0"/>
              </a:rPr>
              <a:t>- Track system: Floor-mounted rails</a:t>
            </a:r>
          </a:p>
          <a:p>
            <a:r>
              <a:rPr lang="en-US" sz="1400" dirty="0">
                <a:latin typeface="Arial" panose="020B0604020202020204" pitchFamily="34" charset="0"/>
                <a:cs typeface="Arial" panose="020B0604020202020204" pitchFamily="34" charset="0"/>
              </a:rPr>
              <a:t>- Operation: Fully automated (no forklift or direct personnel intervention)</a:t>
            </a:r>
          </a:p>
          <a:p>
            <a:r>
              <a:rPr lang="en-US" sz="1400" dirty="0">
                <a:latin typeface="Arial" panose="020B0604020202020204" pitchFamily="34" charset="0"/>
                <a:cs typeface="Arial" panose="020B0604020202020204" pitchFamily="34" charset="0"/>
              </a:rPr>
              <a:t>- Adaptability: Custom design per client layout (number of lanes, length, consumption points)</a:t>
            </a:r>
          </a:p>
          <a:p>
            <a:r>
              <a:rPr lang="en-US" sz="1400" dirty="0">
                <a:latin typeface="Arial" panose="020B0604020202020204" pitchFamily="34" charset="0"/>
                <a:cs typeface="Arial" panose="020B0604020202020204" pitchFamily="34" charset="0"/>
              </a:rPr>
              <a:t>- Integration: Compatible with customer's planning / MES system</a:t>
            </a:r>
          </a:p>
          <a:p>
            <a:endParaRPr lang="en-US" sz="1400" dirty="0">
              <a:latin typeface="Arial" panose="020B0604020202020204" pitchFamily="34" charset="0"/>
              <a:cs typeface="Arial" panose="020B0604020202020204" pitchFamily="34" charset="0"/>
            </a:endParaRPr>
          </a:p>
          <a:p>
            <a:r>
              <a:rPr lang="en-US" sz="1400" b="1" dirty="0">
                <a:solidFill>
                  <a:srgbClr val="FF6A00"/>
                </a:solidFill>
                <a:latin typeface="Arial" panose="020B0604020202020204" pitchFamily="34" charset="0"/>
                <a:cs typeface="Arial" panose="020B0604020202020204" pitchFamily="34" charset="0"/>
              </a:rPr>
              <a:t>BENEFITS</a:t>
            </a:r>
          </a:p>
          <a:p>
            <a:endParaRPr lang="en-US" sz="1400" b="1" dirty="0">
              <a:solidFill>
                <a:srgbClr val="FF6A00"/>
              </a:solidFill>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 Eliminates forklift traffic – removes uncontrolled vehicle movement from corrugator work area</a:t>
            </a:r>
          </a:p>
          <a:p>
            <a:r>
              <a:rPr lang="en-US" sz="1400" dirty="0">
                <a:latin typeface="Arial" panose="020B0604020202020204" pitchFamily="34" charset="0"/>
                <a:cs typeface="Arial" panose="020B0604020202020204" pitchFamily="34" charset="0"/>
              </a:rPr>
              <a:t>- Reduces accident risk – protects personnel operating near machines</a:t>
            </a:r>
          </a:p>
          <a:p>
            <a:r>
              <a:rPr lang="en-US" sz="1400" dirty="0">
                <a:latin typeface="Arial" panose="020B0604020202020204" pitchFamily="34" charset="0"/>
                <a:cs typeface="Arial" panose="020B0604020202020204" pitchFamily="34" charset="0"/>
              </a:rPr>
              <a:t>- Labor cost reduction – minimizes manual roll handling tasks</a:t>
            </a:r>
          </a:p>
          <a:p>
            <a:r>
              <a:rPr lang="en-US" sz="1400" dirty="0">
                <a:latin typeface="Arial" panose="020B0604020202020204" pitchFamily="34" charset="0"/>
                <a:cs typeface="Arial" panose="020B0604020202020204" pitchFamily="34" charset="0"/>
              </a:rPr>
              <a:t>- Minimizes downtime – rolls arrive exactly when needed</a:t>
            </a:r>
          </a:p>
          <a:p>
            <a:r>
              <a:rPr lang="en-US" sz="1400" dirty="0">
                <a:latin typeface="Arial" panose="020B0604020202020204" pitchFamily="34" charset="0"/>
                <a:cs typeface="Arial" panose="020B0604020202020204" pitchFamily="34" charset="0"/>
              </a:rPr>
              <a:t>- Fast ROI – quick payback through efficiency gains and cost savings</a:t>
            </a:r>
          </a:p>
          <a:p>
            <a:r>
              <a:rPr lang="en-US" sz="1400" dirty="0">
                <a:latin typeface="Arial" panose="020B0604020202020204" pitchFamily="34" charset="0"/>
                <a:cs typeface="Arial" panose="020B0604020202020204" pitchFamily="34" charset="0"/>
              </a:rPr>
              <a:t>- Increased profitability – higher overall equipment effectiveness (OEE)</a:t>
            </a:r>
          </a:p>
          <a:p>
            <a:endParaRPr lang="en-US" sz="1400" dirty="0">
              <a:latin typeface="Arial" panose="020B0604020202020204" pitchFamily="34" charset="0"/>
              <a:cs typeface="Arial" panose="020B0604020202020204" pitchFamily="34" charset="0"/>
            </a:endParaRPr>
          </a:p>
          <a:p>
            <a:r>
              <a:rPr lang="en-US" sz="1400" b="1" dirty="0">
                <a:solidFill>
                  <a:srgbClr val="FF6A00"/>
                </a:solidFill>
                <a:latin typeface="Arial" panose="020B0604020202020204" pitchFamily="34" charset="0"/>
                <a:cs typeface="Arial" panose="020B0604020202020204" pitchFamily="34" charset="0"/>
              </a:rPr>
              <a:t>HOW IT WORKS</a:t>
            </a:r>
          </a:p>
          <a:p>
            <a:endParaRPr lang="en-US" sz="1400" b="1" dirty="0">
              <a:solidFill>
                <a:srgbClr val="FF6A00"/>
              </a:solidFill>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1. Start – The process begins in the customer's warehouse</a:t>
            </a:r>
          </a:p>
          <a:p>
            <a:r>
              <a:rPr lang="en-US" sz="1400" dirty="0">
                <a:latin typeface="Arial" panose="020B0604020202020204" pitchFamily="34" charset="0"/>
                <a:cs typeface="Arial" panose="020B0604020202020204" pitchFamily="34" charset="0"/>
              </a:rPr>
              <a:t>2. Transport – The Ingetrans carriage moves along floor-mounted rails</a:t>
            </a:r>
          </a:p>
          <a:p>
            <a:r>
              <a:rPr lang="en-US" sz="1400" dirty="0">
                <a:latin typeface="Arial" panose="020B0604020202020204" pitchFamily="34" charset="0"/>
                <a:cs typeface="Arial" panose="020B0604020202020204" pitchFamily="34" charset="0"/>
              </a:rPr>
              <a:t>3. Delivery – Rolls are delivered to consumption points on the corrugator</a:t>
            </a:r>
          </a:p>
          <a:p>
            <a:r>
              <a:rPr lang="en-US" sz="1400" dirty="0">
                <a:latin typeface="Arial" panose="020B0604020202020204" pitchFamily="34" charset="0"/>
                <a:cs typeface="Arial" panose="020B0604020202020204" pitchFamily="34" charset="0"/>
              </a:rPr>
              <a:t>4. Return – Unused rolls are automatically returned to assigned locations</a:t>
            </a:r>
          </a:p>
        </p:txBody>
      </p:sp>
      <p:sp>
        <p:nvSpPr>
          <p:cNvPr id="10" name="TextBox 9">
            <a:extLst>
              <a:ext uri="{FF2B5EF4-FFF2-40B4-BE49-F238E27FC236}">
                <a16:creationId xmlns:a16="http://schemas.microsoft.com/office/drawing/2014/main" id="{10C17A41-EF75-77D9-654F-D1B0AD4AC116}"/>
              </a:ext>
            </a:extLst>
          </p:cNvPr>
          <p:cNvSpPr txBox="1"/>
          <p:nvPr/>
        </p:nvSpPr>
        <p:spPr>
          <a:xfrm>
            <a:off x="86612" y="127000"/>
            <a:ext cx="11638028" cy="646331"/>
          </a:xfrm>
          <a:prstGeom prst="rect">
            <a:avLst/>
          </a:prstGeom>
          <a:noFill/>
        </p:spPr>
        <p:txBody>
          <a:bodyPr wrap="square">
            <a:spAutoFit/>
          </a:bodyPr>
          <a:lstStyle/>
          <a:p>
            <a:r>
              <a:rPr lang="es-ES" sz="2800" b="1" dirty="0">
                <a:latin typeface="Montserrat"/>
              </a:rPr>
              <a:t>INTRALOGISTICS </a:t>
            </a:r>
            <a:r>
              <a:rPr lang="es-ES" sz="3600" b="1" dirty="0">
                <a:solidFill>
                  <a:srgbClr val="FF6A00"/>
                </a:solidFill>
                <a:latin typeface="Montserrat"/>
              </a:rPr>
              <a:t>INGETRANS</a:t>
            </a:r>
            <a:endParaRPr sz="3600" b="1" dirty="0">
              <a:solidFill>
                <a:srgbClr val="FF6A00"/>
              </a:solidFill>
              <a:latin typeface="Montserrat"/>
            </a:endParaRPr>
          </a:p>
        </p:txBody>
      </p:sp>
      <p:sp>
        <p:nvSpPr>
          <p:cNvPr id="11" name="Rectangle 10">
            <a:extLst>
              <a:ext uri="{FF2B5EF4-FFF2-40B4-BE49-F238E27FC236}">
                <a16:creationId xmlns:a16="http://schemas.microsoft.com/office/drawing/2014/main" id="{91C35A90-8329-8402-72A6-B6B60F3D40EF}"/>
              </a:ext>
            </a:extLst>
          </p:cNvPr>
          <p:cNvSpPr/>
          <p:nvPr/>
        </p:nvSpPr>
        <p:spPr>
          <a:xfrm>
            <a:off x="162560" y="773331"/>
            <a:ext cx="2052320" cy="71120"/>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15195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731520"/>
            <a:ext cx="10058400" cy="1371600"/>
          </a:xfrm>
          <a:prstGeom prst="rect">
            <a:avLst/>
          </a:prstGeom>
          <a:noFill/>
        </p:spPr>
        <p:txBody>
          <a:bodyPr wrap="none">
            <a:spAutoFit/>
          </a:bodyPr>
          <a:lstStyle/>
          <a:p>
            <a:r>
              <a:rPr sz="2800" b="1" dirty="0">
                <a:solidFill>
                  <a:srgbClr val="151515"/>
                </a:solidFill>
                <a:latin typeface="Montserrat"/>
              </a:rPr>
              <a:t>More meters per minute.
Zero chaos at the corrugator.</a:t>
            </a:r>
          </a:p>
        </p:txBody>
      </p:sp>
      <p:sp>
        <p:nvSpPr>
          <p:cNvPr id="3" name="Rectangle 2"/>
          <p:cNvSpPr/>
          <p:nvPr/>
        </p:nvSpPr>
        <p:spPr>
          <a:xfrm>
            <a:off x="914400" y="1920240"/>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2194560"/>
            <a:ext cx="4535409" cy="461665"/>
          </a:xfrm>
          <a:prstGeom prst="rect">
            <a:avLst/>
          </a:prstGeom>
          <a:noFill/>
        </p:spPr>
        <p:txBody>
          <a:bodyPr wrap="none">
            <a:spAutoFit/>
          </a:bodyPr>
          <a:lstStyle/>
          <a:p>
            <a:r>
              <a:rPr lang="en-US" sz="2400" b="1" dirty="0">
                <a:solidFill>
                  <a:srgbClr val="FF6A00"/>
                </a:solidFill>
                <a:latin typeface="Montserrat"/>
              </a:rPr>
              <a:t>Safe </a:t>
            </a:r>
            <a:r>
              <a:rPr sz="2000" dirty="0">
                <a:solidFill>
                  <a:srgbClr val="151515"/>
                </a:solidFill>
                <a:latin typeface="Inter"/>
              </a:rPr>
              <a:t>productivity for corrugated plants.</a:t>
            </a:r>
          </a:p>
        </p:txBody>
      </p:sp>
      <p:sp>
        <p:nvSpPr>
          <p:cNvPr id="5" name="TextBox 4"/>
          <p:cNvSpPr txBox="1"/>
          <p:nvPr/>
        </p:nvSpPr>
        <p:spPr>
          <a:xfrm>
            <a:off x="914400" y="2926080"/>
            <a:ext cx="8046720" cy="1828800"/>
          </a:xfrm>
          <a:prstGeom prst="rect">
            <a:avLst/>
          </a:prstGeom>
          <a:solidFill>
            <a:srgbClr val="FFFFFF"/>
          </a:solidFill>
        </p:spPr>
        <p:txBody>
          <a:bodyPr wrap="square">
            <a:spAutoFit/>
          </a:bodyPr>
          <a:lstStyle/>
          <a:p>
            <a:pPr>
              <a:spcAft>
                <a:spcPts val="1200"/>
              </a:spcAft>
              <a:defRPr sz="1800">
                <a:solidFill>
                  <a:srgbClr val="6F7378"/>
                </a:solidFill>
                <a:latin typeface="Inter"/>
              </a:defRPr>
            </a:pPr>
            <a:r>
              <a:rPr dirty="0"/>
              <a:t>More real line capacity: continuous, production-synchronized supply.</a:t>
            </a:r>
          </a:p>
          <a:p>
            <a:pPr>
              <a:spcAft>
                <a:spcPts val="1200"/>
              </a:spcAft>
              <a:defRPr sz="1800">
                <a:solidFill>
                  <a:srgbClr val="6F7378"/>
                </a:solidFill>
                <a:latin typeface="Inter"/>
              </a:defRPr>
            </a:pPr>
            <a:r>
              <a:rPr dirty="0"/>
              <a:t>Automates reel movement, delivery, and return from warehouse to corrugator.</a:t>
            </a:r>
          </a:p>
          <a:p>
            <a:pPr>
              <a:spcAft>
                <a:spcPts val="1200"/>
              </a:spcAft>
              <a:defRPr sz="1800">
                <a:solidFill>
                  <a:srgbClr val="6F7378"/>
                </a:solidFill>
                <a:latin typeface="Inter"/>
              </a:defRPr>
            </a:pPr>
            <a:r>
              <a:rPr dirty="0"/>
              <a:t>Creates safer workspaces by eliminating uncontrolled circulation.</a:t>
            </a:r>
          </a:p>
        </p:txBody>
      </p:sp>
      <p:sp>
        <p:nvSpPr>
          <p:cNvPr id="6" name="TextBox 5"/>
          <p:cNvSpPr txBox="1"/>
          <p:nvPr/>
        </p:nvSpPr>
        <p:spPr>
          <a:xfrm>
            <a:off x="914400" y="5212080"/>
            <a:ext cx="9144000" cy="1097280"/>
          </a:xfrm>
          <a:prstGeom prst="rect">
            <a:avLst/>
          </a:prstGeom>
          <a:noFill/>
        </p:spPr>
        <p:txBody>
          <a:bodyPr wrap="none">
            <a:spAutoFit/>
          </a:bodyPr>
          <a:lstStyle/>
          <a:p>
            <a:r>
              <a:rPr sz="3000" b="1" dirty="0">
                <a:solidFill>
                  <a:srgbClr val="151515"/>
                </a:solidFill>
                <a:latin typeface="Montserrat"/>
              </a:rPr>
              <a:t>The Corrugated Plant
of the </a:t>
            </a:r>
            <a:r>
              <a:rPr sz="3000" b="1" dirty="0">
                <a:solidFill>
                  <a:srgbClr val="FF6A00"/>
                </a:solidFill>
                <a:latin typeface="Montserrat"/>
              </a:rPr>
              <a:t>Future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E1C56-50BA-9EF6-BB72-A7E4084FCF4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7A11774-1B56-1270-D035-3139319AC4EE}"/>
              </a:ext>
            </a:extLst>
          </p:cNvPr>
          <p:cNvSpPr/>
          <p:nvPr/>
        </p:nvSpPr>
        <p:spPr>
          <a:xfrm>
            <a:off x="731520" y="841248"/>
            <a:ext cx="1463040" cy="36576"/>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9F5788F-81D4-17BA-569C-0FCA1A04211D}"/>
              </a:ext>
            </a:extLst>
          </p:cNvPr>
          <p:cNvSpPr txBox="1"/>
          <p:nvPr/>
        </p:nvSpPr>
        <p:spPr>
          <a:xfrm>
            <a:off x="0" y="0"/>
            <a:ext cx="12192000" cy="769441"/>
          </a:xfrm>
          <a:prstGeom prst="rect">
            <a:avLst/>
          </a:prstGeom>
          <a:solidFill>
            <a:schemeClr val="tx1"/>
          </a:solidFill>
        </p:spPr>
        <p:txBody>
          <a:bodyPr wrap="square" rtlCol="0">
            <a:spAutoFit/>
          </a:bodyPr>
          <a:lstStyle/>
          <a:p>
            <a:r>
              <a:rPr lang="en-US" sz="4400" dirty="0">
                <a:solidFill>
                  <a:srgbClr val="FF6A00"/>
                </a:solidFill>
              </a:rPr>
              <a:t>Plug&amp;Play Palletizer + </a:t>
            </a:r>
            <a:r>
              <a:rPr lang="en-US" sz="4400" dirty="0" err="1">
                <a:solidFill>
                  <a:srgbClr val="FF6A00"/>
                </a:solidFill>
              </a:rPr>
              <a:t>Easypack</a:t>
            </a:r>
            <a:r>
              <a:rPr lang="en-US" sz="4400" dirty="0">
                <a:solidFill>
                  <a:srgbClr val="FF6A00"/>
                </a:solidFill>
              </a:rPr>
              <a:t> </a:t>
            </a:r>
            <a:endParaRPr lang="en-US" sz="4400" noProof="0" dirty="0">
              <a:solidFill>
                <a:srgbClr val="FF6A00"/>
              </a:solidFill>
            </a:endParaRPr>
          </a:p>
        </p:txBody>
      </p:sp>
      <p:sp>
        <p:nvSpPr>
          <p:cNvPr id="6" name="AutoShape 2" descr="Generated image: Industrial automation in action">
            <a:extLst>
              <a:ext uri="{FF2B5EF4-FFF2-40B4-BE49-F238E27FC236}">
                <a16:creationId xmlns:a16="http://schemas.microsoft.com/office/drawing/2014/main" id="{B0ED4F51-D1AA-DC9A-F843-E3AD4040C841}"/>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8" name="Picture 7">
            <a:extLst>
              <a:ext uri="{FF2B5EF4-FFF2-40B4-BE49-F238E27FC236}">
                <a16:creationId xmlns:a16="http://schemas.microsoft.com/office/drawing/2014/main" id="{F5315E04-614A-2671-0B8B-F567C1FC3C30}"/>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1002226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0FA57-CDC8-0B88-E86D-06C28BB2BF6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DF1E529-84F7-BC94-5592-83AB0C33853C}"/>
              </a:ext>
            </a:extLst>
          </p:cNvPr>
          <p:cNvPicPr>
            <a:picLocks noChangeAspect="1"/>
          </p:cNvPicPr>
          <p:nvPr/>
        </p:nvPicPr>
        <p:blipFill>
          <a:blip r:embed="rId2">
            <a:alphaModFix amt="50000"/>
            <a:extLst>
              <a:ext uri="{28A0092B-C50C-407E-A947-70E740481C1C}">
                <a14:useLocalDpi xmlns:a14="http://schemas.microsoft.com/office/drawing/2010/main" val="0"/>
              </a:ext>
            </a:extLst>
          </a:blip>
          <a:stretch>
            <a:fillRect/>
          </a:stretch>
        </p:blipFill>
        <p:spPr>
          <a:xfrm>
            <a:off x="6695308" y="1694729"/>
            <a:ext cx="5496692" cy="5163271"/>
          </a:xfrm>
          <a:prstGeom prst="rect">
            <a:avLst/>
          </a:prstGeom>
        </p:spPr>
      </p:pic>
      <p:sp>
        <p:nvSpPr>
          <p:cNvPr id="3" name="Rectangle 2">
            <a:extLst>
              <a:ext uri="{FF2B5EF4-FFF2-40B4-BE49-F238E27FC236}">
                <a16:creationId xmlns:a16="http://schemas.microsoft.com/office/drawing/2014/main" id="{95DA4892-BA7F-BABA-1C6B-B764E83692A6}"/>
              </a:ext>
            </a:extLst>
          </p:cNvPr>
          <p:cNvSpPr/>
          <p:nvPr/>
        </p:nvSpPr>
        <p:spPr>
          <a:xfrm>
            <a:off x="790186" y="977805"/>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FA4092DF-04D1-C2AD-832F-E489D96DE365}"/>
              </a:ext>
            </a:extLst>
          </p:cNvPr>
          <p:cNvSpPr txBox="1"/>
          <p:nvPr/>
        </p:nvSpPr>
        <p:spPr>
          <a:xfrm>
            <a:off x="717428" y="1206418"/>
            <a:ext cx="8046720" cy="5539978"/>
          </a:xfrm>
          <a:prstGeom prst="rect">
            <a:avLst/>
          </a:prstGeom>
          <a:noFill/>
        </p:spPr>
        <p:txBody>
          <a:bodyPr wrap="square">
            <a:spAutoFit/>
          </a:bodyPr>
          <a:lstStyle/>
          <a:p>
            <a:pPr>
              <a:spcAft>
                <a:spcPts val="1200"/>
              </a:spcAft>
              <a:defRPr sz="1800">
                <a:solidFill>
                  <a:srgbClr val="6F7378"/>
                </a:solidFill>
                <a:latin typeface="Inter"/>
              </a:defRPr>
            </a:pPr>
            <a:r>
              <a:rPr lang="en-US" dirty="0"/>
              <a:t> 15 packages per minute. </a:t>
            </a:r>
          </a:p>
          <a:p>
            <a:pPr>
              <a:spcAft>
                <a:spcPts val="1200"/>
              </a:spcAft>
              <a:defRPr sz="1800">
                <a:solidFill>
                  <a:srgbClr val="6F7378"/>
                </a:solidFill>
                <a:latin typeface="Inter"/>
              </a:defRPr>
            </a:pPr>
            <a:r>
              <a:rPr lang="en-US" dirty="0"/>
              <a:t>🔌 No production stoppage. Plug, configure, and palletize.</a:t>
            </a:r>
          </a:p>
          <a:p>
            <a:pPr>
              <a:spcAft>
                <a:spcPts val="1200"/>
              </a:spcAft>
              <a:defRPr sz="1800">
                <a:solidFill>
                  <a:srgbClr val="6F7378"/>
                </a:solidFill>
                <a:latin typeface="Inter"/>
              </a:defRPr>
            </a:pPr>
            <a:endParaRPr lang="en-US" dirty="0"/>
          </a:p>
          <a:p>
            <a:pPr>
              <a:spcAft>
                <a:spcPts val="1200"/>
              </a:spcAft>
              <a:defRPr sz="1800">
                <a:solidFill>
                  <a:srgbClr val="6F7378"/>
                </a:solidFill>
                <a:latin typeface="Inter"/>
              </a:defRPr>
            </a:pPr>
            <a:r>
              <a:rPr lang="en-US" dirty="0"/>
              <a:t>🛠️ Universal gripper. 50+ sizes. Zero changeover time.</a:t>
            </a:r>
          </a:p>
          <a:p>
            <a:pPr>
              <a:spcAft>
                <a:spcPts val="1200"/>
              </a:spcAft>
              <a:defRPr sz="1800">
                <a:solidFill>
                  <a:srgbClr val="6F7378"/>
                </a:solidFill>
                <a:latin typeface="Inter"/>
              </a:defRPr>
            </a:pPr>
            <a:r>
              <a:rPr lang="en-US" dirty="0"/>
              <a:t>   No tools needed. Just a recipe.</a:t>
            </a:r>
          </a:p>
          <a:p>
            <a:pPr>
              <a:spcAft>
                <a:spcPts val="1200"/>
              </a:spcAft>
              <a:defRPr sz="1800">
                <a:solidFill>
                  <a:srgbClr val="6F7378"/>
                </a:solidFill>
                <a:latin typeface="Inter"/>
              </a:defRPr>
            </a:pPr>
            <a:endParaRPr lang="en-US" dirty="0"/>
          </a:p>
          <a:p>
            <a:pPr>
              <a:spcAft>
                <a:spcPts val="1200"/>
              </a:spcAft>
              <a:defRPr sz="1800">
                <a:solidFill>
                  <a:srgbClr val="6F7378"/>
                </a:solidFill>
                <a:latin typeface="Inter"/>
              </a:defRPr>
            </a:pPr>
            <a:r>
              <a:rPr lang="en-US" dirty="0"/>
              <a:t>📈 ROI: Automation pays for itself.</a:t>
            </a:r>
          </a:p>
          <a:p>
            <a:pPr>
              <a:spcAft>
                <a:spcPts val="1200"/>
              </a:spcAft>
              <a:defRPr sz="1800">
                <a:solidFill>
                  <a:srgbClr val="6F7378"/>
                </a:solidFill>
                <a:latin typeface="Inter"/>
              </a:defRPr>
            </a:pPr>
            <a:endParaRPr lang="en-US" dirty="0"/>
          </a:p>
          <a:p>
            <a:pPr>
              <a:spcAft>
                <a:spcPts val="1200"/>
              </a:spcAft>
              <a:defRPr sz="1800">
                <a:solidFill>
                  <a:srgbClr val="6F7378"/>
                </a:solidFill>
                <a:latin typeface="Inter"/>
              </a:defRPr>
            </a:pPr>
            <a:r>
              <a:rPr lang="en-US" dirty="0"/>
              <a:t>🧠 Multi-language HMI + ERP. Real-time data.</a:t>
            </a:r>
          </a:p>
          <a:p>
            <a:pPr>
              <a:spcAft>
                <a:spcPts val="1200"/>
              </a:spcAft>
              <a:defRPr sz="1800">
                <a:solidFill>
                  <a:srgbClr val="6F7378"/>
                </a:solidFill>
                <a:latin typeface="Inter"/>
              </a:defRPr>
            </a:pPr>
            <a:r>
              <a:rPr lang="en-US" dirty="0"/>
              <a:t>   Traceability and control from day one.</a:t>
            </a:r>
          </a:p>
          <a:p>
            <a:pPr>
              <a:spcAft>
                <a:spcPts val="1200"/>
              </a:spcAft>
              <a:defRPr sz="1800">
                <a:solidFill>
                  <a:srgbClr val="6F7378"/>
                </a:solidFill>
                <a:latin typeface="Inter"/>
              </a:defRPr>
            </a:pPr>
            <a:endParaRPr lang="en-US" dirty="0"/>
          </a:p>
          <a:p>
            <a:pPr>
              <a:spcAft>
                <a:spcPts val="1200"/>
              </a:spcAft>
              <a:defRPr sz="1800">
                <a:solidFill>
                  <a:srgbClr val="6F7378"/>
                </a:solidFill>
                <a:latin typeface="Inter"/>
              </a:defRPr>
            </a:pPr>
            <a:r>
              <a:rPr lang="en-US" dirty="0"/>
              <a:t>📦 Scale without redesigning your plant.</a:t>
            </a:r>
          </a:p>
          <a:p>
            <a:pPr>
              <a:spcAft>
                <a:spcPts val="1200"/>
              </a:spcAft>
              <a:defRPr sz="1800">
                <a:solidFill>
                  <a:srgbClr val="6F7378"/>
                </a:solidFill>
                <a:latin typeface="Inter"/>
              </a:defRPr>
            </a:pPr>
            <a:r>
              <a:rPr lang="en-US" dirty="0"/>
              <a:t>   Growth doesn't have to be complicated.</a:t>
            </a:r>
            <a:endParaRPr dirty="0"/>
          </a:p>
        </p:txBody>
      </p:sp>
      <p:sp>
        <p:nvSpPr>
          <p:cNvPr id="7" name="TextBox 6">
            <a:extLst>
              <a:ext uri="{FF2B5EF4-FFF2-40B4-BE49-F238E27FC236}">
                <a16:creationId xmlns:a16="http://schemas.microsoft.com/office/drawing/2014/main" id="{E884F7EA-D7B2-8A00-9A08-CBCDAC55F4D0}"/>
              </a:ext>
            </a:extLst>
          </p:cNvPr>
          <p:cNvSpPr txBox="1"/>
          <p:nvPr/>
        </p:nvSpPr>
        <p:spPr>
          <a:xfrm>
            <a:off x="717428" y="314960"/>
            <a:ext cx="10280378" cy="523220"/>
          </a:xfrm>
          <a:prstGeom prst="rect">
            <a:avLst/>
          </a:prstGeom>
          <a:noFill/>
        </p:spPr>
        <p:txBody>
          <a:bodyPr wrap="none">
            <a:spAutoFit/>
          </a:bodyPr>
          <a:lstStyle/>
          <a:p>
            <a:r>
              <a:rPr lang="en-US" sz="2800" b="1" dirty="0">
                <a:solidFill>
                  <a:srgbClr val="FF6A00"/>
                </a:solidFill>
                <a:latin typeface="Montserrat"/>
              </a:rPr>
              <a:t>Plug&amp;Play Easypack+Palletizer </a:t>
            </a:r>
            <a:r>
              <a:rPr lang="en-US" sz="2000" noProof="0" dirty="0">
                <a:solidFill>
                  <a:srgbClr val="151515"/>
                </a:solidFill>
                <a:latin typeface="Inter"/>
              </a:rPr>
              <a:t>:  Stack higher. Stack faster. Zero errors..</a:t>
            </a:r>
          </a:p>
        </p:txBody>
      </p:sp>
    </p:spTree>
    <p:extLst>
      <p:ext uri="{BB962C8B-B14F-4D97-AF65-F5344CB8AC3E}">
        <p14:creationId xmlns:p14="http://schemas.microsoft.com/office/powerpoint/2010/main" val="4111960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094EE314-3FB8-94D8-DC54-34749D519CD5}"/>
              </a:ext>
            </a:extLst>
          </p:cNvPr>
          <p:cNvPicPr>
            <a:picLocks noChangeAspect="1"/>
          </p:cNvPicPr>
          <p:nvPr/>
        </p:nvPicPr>
        <p:blipFill>
          <a:blip r:embed="rId2">
            <a:extLst>
              <a:ext uri="{28A0092B-C50C-407E-A947-70E740481C1C}">
                <a14:useLocalDpi xmlns:a14="http://schemas.microsoft.com/office/drawing/2010/main" val="0"/>
              </a:ext>
            </a:extLst>
          </a:blip>
          <a:srcRect l="5780" t="10631" r="2578" b="10516"/>
          <a:stretch>
            <a:fillRect/>
          </a:stretch>
        </p:blipFill>
        <p:spPr>
          <a:xfrm>
            <a:off x="0" y="332802"/>
            <a:ext cx="12192000" cy="5901018"/>
          </a:xfrm>
          <a:prstGeom prst="rect">
            <a:avLst/>
          </a:prstGeom>
        </p:spPr>
      </p:pic>
      <p:pic>
        <p:nvPicPr>
          <p:cNvPr id="13" name="Picture 12">
            <a:extLst>
              <a:ext uri="{FF2B5EF4-FFF2-40B4-BE49-F238E27FC236}">
                <a16:creationId xmlns:a16="http://schemas.microsoft.com/office/drawing/2014/main" id="{F0BED18A-42E0-692F-1C5A-F327C874A4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753" y="-942114"/>
            <a:ext cx="4764034" cy="4764034"/>
          </a:xfrm>
          <a:prstGeom prst="rect">
            <a:avLst/>
          </a:prstGeom>
        </p:spPr>
      </p:pic>
      <p:sp>
        <p:nvSpPr>
          <p:cNvPr id="14" name="TextBox 13">
            <a:extLst>
              <a:ext uri="{FF2B5EF4-FFF2-40B4-BE49-F238E27FC236}">
                <a16:creationId xmlns:a16="http://schemas.microsoft.com/office/drawing/2014/main" id="{3C459FA8-34E9-50C5-F77C-56E83CF3CD0B}"/>
              </a:ext>
            </a:extLst>
          </p:cNvPr>
          <p:cNvSpPr txBox="1"/>
          <p:nvPr/>
        </p:nvSpPr>
        <p:spPr>
          <a:xfrm>
            <a:off x="493995" y="2744702"/>
            <a:ext cx="3318537" cy="1077218"/>
          </a:xfrm>
          <a:prstGeom prst="rect">
            <a:avLst/>
          </a:prstGeom>
          <a:noFill/>
        </p:spPr>
        <p:txBody>
          <a:bodyPr wrap="none">
            <a:spAutoFit/>
          </a:bodyPr>
          <a:lstStyle/>
          <a:p>
            <a:r>
              <a:rPr lang="es-ES" sz="2800" b="1" dirty="0">
                <a:latin typeface="Montserrat"/>
              </a:rPr>
              <a:t>INTRALOGISTICS</a:t>
            </a:r>
          </a:p>
          <a:p>
            <a:r>
              <a:rPr lang="es-ES" sz="3600" b="1" dirty="0">
                <a:solidFill>
                  <a:srgbClr val="FF6A00"/>
                </a:solidFill>
                <a:latin typeface="Montserrat"/>
              </a:rPr>
              <a:t>AMR</a:t>
            </a:r>
            <a:endParaRPr sz="3600" b="1" dirty="0">
              <a:solidFill>
                <a:srgbClr val="FF6A00"/>
              </a:solidFill>
              <a:latin typeface="Montserrat"/>
            </a:endParaRPr>
          </a:p>
        </p:txBody>
      </p:sp>
      <p:sp>
        <p:nvSpPr>
          <p:cNvPr id="15" name="TextBox 14">
            <a:extLst>
              <a:ext uri="{FF2B5EF4-FFF2-40B4-BE49-F238E27FC236}">
                <a16:creationId xmlns:a16="http://schemas.microsoft.com/office/drawing/2014/main" id="{C2F8B6C1-1799-4E40-6026-795E161662C3}"/>
              </a:ext>
            </a:extLst>
          </p:cNvPr>
          <p:cNvSpPr txBox="1"/>
          <p:nvPr/>
        </p:nvSpPr>
        <p:spPr>
          <a:xfrm>
            <a:off x="493995" y="4249577"/>
            <a:ext cx="4838632" cy="2062103"/>
          </a:xfrm>
          <a:prstGeom prst="rect">
            <a:avLst/>
          </a:prstGeom>
          <a:noFill/>
        </p:spPr>
        <p:txBody>
          <a:bodyPr wrap="none">
            <a:spAutoFit/>
          </a:bodyPr>
          <a:lstStyle/>
          <a:p>
            <a:r>
              <a:rPr lang="es-ES" sz="2000" b="1" dirty="0">
                <a:latin typeface="Montserrat"/>
              </a:rPr>
              <a:t>INTRALOGISTICS</a:t>
            </a:r>
          </a:p>
          <a:p>
            <a:r>
              <a:rPr lang="es-ES" sz="2800" b="1" dirty="0">
                <a:solidFill>
                  <a:srgbClr val="FF6A00"/>
                </a:solidFill>
                <a:latin typeface="Montserrat"/>
              </a:rPr>
              <a:t>AMR</a:t>
            </a:r>
          </a:p>
          <a:p>
            <a:r>
              <a:rPr lang="en-US" sz="2000" b="1" dirty="0">
                <a:latin typeface="Inter"/>
              </a:rPr>
              <a:t>Supported by </a:t>
            </a:r>
            <a:r>
              <a:rPr lang="en-US" sz="2000" b="1" noProof="0" dirty="0">
                <a:solidFill>
                  <a:srgbClr val="FF6A00"/>
                </a:solidFill>
                <a:latin typeface="Montserrat"/>
              </a:rPr>
              <a:t>KUKA</a:t>
            </a:r>
            <a:r>
              <a:rPr lang="en-US" sz="2000" b="1" noProof="0" dirty="0">
                <a:solidFill>
                  <a:srgbClr val="FF6A00"/>
                </a:solidFill>
                <a:latin typeface="Inter"/>
              </a:rPr>
              <a:t>,</a:t>
            </a:r>
            <a:r>
              <a:rPr lang="en-US" sz="2000" b="1" dirty="0">
                <a:latin typeface="Inter"/>
              </a:rPr>
              <a:t> Ingecart has develop </a:t>
            </a:r>
          </a:p>
          <a:p>
            <a:r>
              <a:rPr lang="en-US" sz="2000" b="1" dirty="0">
                <a:latin typeface="Inter"/>
              </a:rPr>
              <a:t>a unique automated system for improving </a:t>
            </a:r>
          </a:p>
          <a:p>
            <a:r>
              <a:rPr lang="en-US" sz="2000" b="1" dirty="0">
                <a:latin typeface="Inter"/>
              </a:rPr>
              <a:t>the WIP management, efficiency</a:t>
            </a:r>
          </a:p>
          <a:p>
            <a:r>
              <a:rPr lang="en-US" sz="2000" b="1" dirty="0">
                <a:latin typeface="Inter"/>
              </a:rPr>
              <a:t>precision cost reduction </a:t>
            </a:r>
            <a:r>
              <a:rPr lang="en-US" noProof="0" dirty="0">
                <a:solidFill>
                  <a:srgbClr val="151515"/>
                </a:solidFill>
                <a:latin typeface="Inter"/>
              </a:rPr>
              <a:t>.</a:t>
            </a:r>
          </a:p>
        </p:txBody>
      </p:sp>
    </p:spTree>
    <p:extLst>
      <p:ext uri="{BB962C8B-B14F-4D97-AF65-F5344CB8AC3E}">
        <p14:creationId xmlns:p14="http://schemas.microsoft.com/office/powerpoint/2010/main" val="35308400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B78C-EAB8-580E-F236-2A4A7045FB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433219B-9BEF-59D2-F9DD-A41FBAB0DFFC}"/>
              </a:ext>
            </a:extLst>
          </p:cNvPr>
          <p:cNvSpPr/>
          <p:nvPr/>
        </p:nvSpPr>
        <p:spPr>
          <a:xfrm>
            <a:off x="717428" y="1355809"/>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06F7AD46-6BAD-D00B-0975-D2FAC8726137}"/>
              </a:ext>
            </a:extLst>
          </p:cNvPr>
          <p:cNvSpPr txBox="1"/>
          <p:nvPr/>
        </p:nvSpPr>
        <p:spPr>
          <a:xfrm>
            <a:off x="717428" y="1720593"/>
            <a:ext cx="8046720" cy="2923877"/>
          </a:xfrm>
          <a:prstGeom prst="rect">
            <a:avLst/>
          </a:prstGeom>
          <a:solidFill>
            <a:srgbClr val="FFFFFF"/>
          </a:solidFill>
        </p:spPr>
        <p:txBody>
          <a:bodyPr wrap="square">
            <a:spAutoFit/>
          </a:bodyPr>
          <a:lstStyle/>
          <a:p>
            <a:pPr>
              <a:spcAft>
                <a:spcPts val="1200"/>
              </a:spcAft>
              <a:defRPr sz="1800">
                <a:solidFill>
                  <a:srgbClr val="6F7378"/>
                </a:solidFill>
                <a:latin typeface="Inter"/>
              </a:defRPr>
            </a:pPr>
            <a:r>
              <a:rPr lang="en-US" dirty="0"/>
              <a:t> Ingecart Intralogistics Management System – AMR-Based Solution</a:t>
            </a:r>
          </a:p>
          <a:p>
            <a:pPr>
              <a:spcAft>
                <a:spcPts val="1200"/>
              </a:spcAft>
              <a:defRPr sz="1800">
                <a:solidFill>
                  <a:srgbClr val="6F7378"/>
                </a:solidFill>
                <a:latin typeface="Inter"/>
              </a:defRPr>
            </a:pPr>
            <a:r>
              <a:rPr lang="en-US" dirty="0"/>
              <a:t>Automate. Optimize. Maximize Every Square Meter.</a:t>
            </a:r>
          </a:p>
          <a:p>
            <a:pPr>
              <a:spcAft>
                <a:spcPts val="1200"/>
              </a:spcAft>
              <a:defRPr sz="1800">
                <a:solidFill>
                  <a:srgbClr val="6F7378"/>
                </a:solidFill>
                <a:latin typeface="Inter"/>
              </a:defRPr>
            </a:pPr>
            <a:r>
              <a:rPr lang="en-US" dirty="0"/>
              <a:t>Autonomous Mobile Robots (AMRs) significantly increase efficiency in storage and production environments. They automate transport and logistics processes, accelerating task execution and optimizing goods flow.</a:t>
            </a:r>
          </a:p>
          <a:p>
            <a:pPr>
              <a:spcAft>
                <a:spcPts val="1200"/>
              </a:spcAft>
              <a:defRPr sz="1800">
                <a:solidFill>
                  <a:srgbClr val="6F7378"/>
                </a:solidFill>
                <a:latin typeface="Inter"/>
              </a:defRPr>
            </a:pPr>
            <a:endParaRPr lang="en-US" dirty="0"/>
          </a:p>
          <a:p>
            <a:pPr>
              <a:spcAft>
                <a:spcPts val="1200"/>
              </a:spcAft>
              <a:defRPr sz="1800">
                <a:solidFill>
                  <a:srgbClr val="6F7378"/>
                </a:solidFill>
                <a:latin typeface="Inter"/>
              </a:defRPr>
            </a:pPr>
            <a:r>
              <a:rPr lang="en-US" dirty="0"/>
              <a:t>Ingecart's compact and flexible AMR models integrate seamlessly into existing supply chains – saving substantial time and resources.</a:t>
            </a:r>
            <a:endParaRPr dirty="0"/>
          </a:p>
        </p:txBody>
      </p:sp>
      <p:sp>
        <p:nvSpPr>
          <p:cNvPr id="7" name="TextBox 6">
            <a:extLst>
              <a:ext uri="{FF2B5EF4-FFF2-40B4-BE49-F238E27FC236}">
                <a16:creationId xmlns:a16="http://schemas.microsoft.com/office/drawing/2014/main" id="{0D3607B3-4D94-E985-7653-3A746A88C50D}"/>
              </a:ext>
            </a:extLst>
          </p:cNvPr>
          <p:cNvSpPr txBox="1"/>
          <p:nvPr/>
        </p:nvSpPr>
        <p:spPr>
          <a:xfrm>
            <a:off x="717428" y="226911"/>
            <a:ext cx="8539517" cy="954107"/>
          </a:xfrm>
          <a:prstGeom prst="rect">
            <a:avLst/>
          </a:prstGeom>
          <a:noFill/>
        </p:spPr>
        <p:txBody>
          <a:bodyPr wrap="none">
            <a:spAutoFit/>
          </a:bodyPr>
          <a:lstStyle/>
          <a:p>
            <a:r>
              <a:rPr lang="en-US" sz="2800" b="1" dirty="0">
                <a:latin typeface="Montserrat"/>
              </a:rPr>
              <a:t>Ingecart Intralogistics Management System </a:t>
            </a:r>
          </a:p>
          <a:p>
            <a:r>
              <a:rPr lang="en-US" sz="2800" b="1" dirty="0">
                <a:solidFill>
                  <a:srgbClr val="FF6A00"/>
                </a:solidFill>
                <a:latin typeface="Montserrat"/>
              </a:rPr>
              <a:t>AMR-Based Solution</a:t>
            </a:r>
          </a:p>
        </p:txBody>
      </p:sp>
      <p:pic>
        <p:nvPicPr>
          <p:cNvPr id="4" name="Picture 3">
            <a:extLst>
              <a:ext uri="{FF2B5EF4-FFF2-40B4-BE49-F238E27FC236}">
                <a16:creationId xmlns:a16="http://schemas.microsoft.com/office/drawing/2014/main" id="{2CE955DC-F50B-F69D-D052-C1BC38B620E4}"/>
              </a:ext>
            </a:extLst>
          </p:cNvPr>
          <p:cNvPicPr>
            <a:picLocks noChangeAspect="1"/>
          </p:cNvPicPr>
          <p:nvPr/>
        </p:nvPicPr>
        <p:blipFill>
          <a:blip r:embed="rId2">
            <a:alphaModFix amt="20000"/>
            <a:extLst>
              <a:ext uri="{28A0092B-C50C-407E-A947-70E740481C1C}">
                <a14:useLocalDpi xmlns:a14="http://schemas.microsoft.com/office/drawing/2010/main" val="0"/>
              </a:ext>
            </a:extLst>
          </a:blip>
          <a:srcRect t="7865" r="16844"/>
          <a:stretch>
            <a:fillRect/>
          </a:stretch>
        </p:blipFill>
        <p:spPr>
          <a:xfrm>
            <a:off x="7076044" y="2235200"/>
            <a:ext cx="5115956" cy="4622800"/>
          </a:xfrm>
          <a:prstGeom prst="rect">
            <a:avLst/>
          </a:prstGeom>
        </p:spPr>
      </p:pic>
    </p:spTree>
    <p:extLst>
      <p:ext uri="{BB962C8B-B14F-4D97-AF65-F5344CB8AC3E}">
        <p14:creationId xmlns:p14="http://schemas.microsoft.com/office/powerpoint/2010/main" val="15171318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9B3FB-7713-E541-CFC4-6E644B216F2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B716DC5-A398-4F3E-C150-24873B6E77AA}"/>
              </a:ext>
            </a:extLst>
          </p:cNvPr>
          <p:cNvSpPr/>
          <p:nvPr/>
        </p:nvSpPr>
        <p:spPr>
          <a:xfrm>
            <a:off x="717428" y="1355809"/>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470AD18D-00EF-AD2A-0349-FD447B1D8B17}"/>
              </a:ext>
            </a:extLst>
          </p:cNvPr>
          <p:cNvSpPr txBox="1"/>
          <p:nvPr/>
        </p:nvSpPr>
        <p:spPr>
          <a:xfrm>
            <a:off x="615828" y="1558032"/>
            <a:ext cx="8046720" cy="5170646"/>
          </a:xfrm>
          <a:prstGeom prst="rect">
            <a:avLst/>
          </a:prstGeom>
          <a:solidFill>
            <a:srgbClr val="FFFFFF"/>
          </a:solidFill>
        </p:spPr>
        <p:txBody>
          <a:bodyPr wrap="square">
            <a:spAutoFit/>
          </a:bodyPr>
          <a:lstStyle/>
          <a:p>
            <a:pPr>
              <a:spcAft>
                <a:spcPts val="1200"/>
              </a:spcAft>
              <a:defRPr sz="1800">
                <a:solidFill>
                  <a:srgbClr val="6F7378"/>
                </a:solidFill>
                <a:latin typeface="Inter"/>
              </a:defRPr>
            </a:pPr>
            <a:r>
              <a:rPr lang="en-US" sz="1600" dirty="0"/>
              <a:t>Fully automated movement of loads, WIP, and finished goods between warehouse, production, and converting machines</a:t>
            </a:r>
          </a:p>
          <a:p>
            <a:pPr>
              <a:spcAft>
                <a:spcPts val="1200"/>
              </a:spcAft>
              <a:defRPr sz="1800">
                <a:solidFill>
                  <a:srgbClr val="6F7378"/>
                </a:solidFill>
                <a:latin typeface="Inter"/>
              </a:defRPr>
            </a:pPr>
            <a:r>
              <a:rPr lang="en-US" sz="1600" dirty="0"/>
              <a:t>Real-time communication with production planning systems</a:t>
            </a:r>
          </a:p>
          <a:p>
            <a:pPr>
              <a:spcAft>
                <a:spcPts val="1200"/>
              </a:spcAft>
              <a:defRPr sz="1800">
                <a:solidFill>
                  <a:srgbClr val="6F7378"/>
                </a:solidFill>
                <a:latin typeface="Inter"/>
              </a:defRPr>
            </a:pPr>
            <a:r>
              <a:rPr lang="en-US" sz="1600" dirty="0"/>
              <a:t>📦 </a:t>
            </a:r>
            <a:r>
              <a:rPr lang="en-US" sz="1600" b="1" dirty="0">
                <a:solidFill>
                  <a:srgbClr val="FF6A00"/>
                </a:solidFill>
              </a:rPr>
              <a:t>Logistics Efficiency</a:t>
            </a:r>
          </a:p>
          <a:p>
            <a:pPr>
              <a:spcAft>
                <a:spcPts val="1200"/>
              </a:spcAft>
              <a:defRPr sz="1800">
                <a:solidFill>
                  <a:srgbClr val="6F7378"/>
                </a:solidFill>
                <a:latin typeface="Inter"/>
              </a:defRPr>
            </a:pPr>
            <a:r>
              <a:rPr lang="en-US" sz="1600" dirty="0"/>
              <a:t>Just-in-time delivery of materials to converting stations</a:t>
            </a:r>
          </a:p>
          <a:p>
            <a:pPr>
              <a:spcAft>
                <a:spcPts val="1200"/>
              </a:spcAft>
              <a:defRPr sz="1800">
                <a:solidFill>
                  <a:srgbClr val="6F7378"/>
                </a:solidFill>
                <a:latin typeface="Inter"/>
              </a:defRPr>
            </a:pPr>
            <a:r>
              <a:rPr lang="en-US" sz="1600" dirty="0"/>
              <a:t>Reduced waiting times and improved overall equipment effectiveness (OEE)</a:t>
            </a:r>
          </a:p>
          <a:p>
            <a:pPr>
              <a:spcAft>
                <a:spcPts val="1200"/>
              </a:spcAft>
              <a:defRPr sz="1800">
                <a:solidFill>
                  <a:srgbClr val="6F7378"/>
                </a:solidFill>
                <a:latin typeface="Inter"/>
              </a:defRPr>
            </a:pPr>
            <a:r>
              <a:rPr lang="en-US" sz="1600" dirty="0"/>
              <a:t>Synchronized material flow aligned with production pace</a:t>
            </a:r>
          </a:p>
          <a:p>
            <a:pPr>
              <a:spcAft>
                <a:spcPts val="1200"/>
              </a:spcAft>
              <a:defRPr sz="1800">
                <a:solidFill>
                  <a:srgbClr val="6F7378"/>
                </a:solidFill>
                <a:latin typeface="Inter"/>
              </a:defRPr>
            </a:pPr>
            <a:r>
              <a:rPr lang="en-US" sz="1600" dirty="0"/>
              <a:t>📐 Maximum Space Utilization (WIP per m²)</a:t>
            </a:r>
          </a:p>
          <a:p>
            <a:pPr>
              <a:spcAft>
                <a:spcPts val="1200"/>
              </a:spcAft>
              <a:defRPr sz="1800">
                <a:solidFill>
                  <a:srgbClr val="6F7378"/>
                </a:solidFill>
                <a:latin typeface="Inter"/>
              </a:defRPr>
            </a:pPr>
            <a:r>
              <a:rPr lang="en-US" sz="1600" dirty="0"/>
              <a:t>Compact AMR design navigates narrow aisles and tight spaces</a:t>
            </a:r>
          </a:p>
          <a:p>
            <a:pPr>
              <a:spcAft>
                <a:spcPts val="1200"/>
              </a:spcAft>
              <a:defRPr sz="1800">
                <a:solidFill>
                  <a:srgbClr val="6F7378"/>
                </a:solidFill>
                <a:latin typeface="Inter"/>
              </a:defRPr>
            </a:pPr>
            <a:r>
              <a:rPr lang="en-US" sz="1600" b="1" dirty="0">
                <a:solidFill>
                  <a:srgbClr val="FF6A00"/>
                </a:solidFill>
              </a:rPr>
              <a:t>Optimized WIP placement in minimum footprint</a:t>
            </a:r>
          </a:p>
          <a:p>
            <a:pPr>
              <a:spcAft>
                <a:spcPts val="1200"/>
              </a:spcAft>
              <a:defRPr sz="1800">
                <a:solidFill>
                  <a:srgbClr val="6F7378"/>
                </a:solidFill>
                <a:latin typeface="Inter"/>
              </a:defRPr>
            </a:pPr>
            <a:r>
              <a:rPr lang="en-US" sz="1600" dirty="0"/>
              <a:t>Intelligent routing allows higher storage density without adding square meters</a:t>
            </a:r>
          </a:p>
          <a:p>
            <a:pPr>
              <a:spcAft>
                <a:spcPts val="1200"/>
              </a:spcAft>
              <a:defRPr sz="1800">
                <a:solidFill>
                  <a:srgbClr val="6F7378"/>
                </a:solidFill>
                <a:latin typeface="Inter"/>
              </a:defRPr>
            </a:pPr>
            <a:r>
              <a:rPr lang="en-US" sz="1600" dirty="0"/>
              <a:t>🔁 Flow Management Between WIP &amp; Converting Machines</a:t>
            </a:r>
          </a:p>
          <a:p>
            <a:pPr>
              <a:spcAft>
                <a:spcPts val="1200"/>
              </a:spcAft>
              <a:defRPr sz="1800">
                <a:solidFill>
                  <a:srgbClr val="6F7378"/>
                </a:solidFill>
                <a:latin typeface="Inter"/>
              </a:defRPr>
            </a:pPr>
            <a:r>
              <a:rPr lang="en-US" sz="1600" dirty="0"/>
              <a:t>Dynamic management of work-in-progress buffers</a:t>
            </a:r>
            <a:endParaRPr sz="1600" dirty="0"/>
          </a:p>
        </p:txBody>
      </p:sp>
      <p:sp>
        <p:nvSpPr>
          <p:cNvPr id="7" name="TextBox 6">
            <a:extLst>
              <a:ext uri="{FF2B5EF4-FFF2-40B4-BE49-F238E27FC236}">
                <a16:creationId xmlns:a16="http://schemas.microsoft.com/office/drawing/2014/main" id="{10F163E8-6E7E-3AB1-42B9-AFD79F29E34D}"/>
              </a:ext>
            </a:extLst>
          </p:cNvPr>
          <p:cNvSpPr txBox="1"/>
          <p:nvPr/>
        </p:nvSpPr>
        <p:spPr>
          <a:xfrm>
            <a:off x="717428" y="226911"/>
            <a:ext cx="8539517" cy="954107"/>
          </a:xfrm>
          <a:prstGeom prst="rect">
            <a:avLst/>
          </a:prstGeom>
          <a:noFill/>
        </p:spPr>
        <p:txBody>
          <a:bodyPr wrap="none">
            <a:spAutoFit/>
          </a:bodyPr>
          <a:lstStyle/>
          <a:p>
            <a:r>
              <a:rPr lang="en-US" sz="2800" b="1" dirty="0">
                <a:latin typeface="Montserrat"/>
              </a:rPr>
              <a:t>Ingecart Intralogistics Management System </a:t>
            </a:r>
          </a:p>
          <a:p>
            <a:r>
              <a:rPr lang="en-US" sz="2800" b="1" dirty="0">
                <a:solidFill>
                  <a:srgbClr val="FF6A00"/>
                </a:solidFill>
                <a:latin typeface="Montserrat"/>
              </a:rPr>
              <a:t>AMR-Based Solution</a:t>
            </a:r>
          </a:p>
        </p:txBody>
      </p:sp>
      <p:pic>
        <p:nvPicPr>
          <p:cNvPr id="4" name="Picture 3">
            <a:extLst>
              <a:ext uri="{FF2B5EF4-FFF2-40B4-BE49-F238E27FC236}">
                <a16:creationId xmlns:a16="http://schemas.microsoft.com/office/drawing/2014/main" id="{C0BBECA9-EF81-F7A4-B7FF-4EC1B760BFC2}"/>
              </a:ext>
            </a:extLst>
          </p:cNvPr>
          <p:cNvPicPr>
            <a:picLocks noChangeAspect="1"/>
          </p:cNvPicPr>
          <p:nvPr/>
        </p:nvPicPr>
        <p:blipFill>
          <a:blip r:embed="rId2">
            <a:alphaModFix amt="20000"/>
            <a:extLst>
              <a:ext uri="{28A0092B-C50C-407E-A947-70E740481C1C}">
                <a14:useLocalDpi xmlns:a14="http://schemas.microsoft.com/office/drawing/2010/main" val="0"/>
              </a:ext>
            </a:extLst>
          </a:blip>
          <a:srcRect t="7865" r="16844"/>
          <a:stretch>
            <a:fillRect/>
          </a:stretch>
        </p:blipFill>
        <p:spPr>
          <a:xfrm>
            <a:off x="7076044" y="2235200"/>
            <a:ext cx="5115956" cy="4622800"/>
          </a:xfrm>
          <a:prstGeom prst="rect">
            <a:avLst/>
          </a:prstGeom>
        </p:spPr>
      </p:pic>
    </p:spTree>
    <p:extLst>
      <p:ext uri="{BB962C8B-B14F-4D97-AF65-F5344CB8AC3E}">
        <p14:creationId xmlns:p14="http://schemas.microsoft.com/office/powerpoint/2010/main" val="41896307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6374B09-C530-2ACC-F31A-A177C75263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Tree>
    <p:extLst>
      <p:ext uri="{BB962C8B-B14F-4D97-AF65-F5344CB8AC3E}">
        <p14:creationId xmlns:p14="http://schemas.microsoft.com/office/powerpoint/2010/main" val="2171846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13D74-912A-C933-CC8A-0487F469D2A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02EE57A-3B8E-08A0-4920-6D5F41085F93}"/>
              </a:ext>
            </a:extLst>
          </p:cNvPr>
          <p:cNvSpPr/>
          <p:nvPr/>
        </p:nvSpPr>
        <p:spPr>
          <a:xfrm>
            <a:off x="717428" y="1355809"/>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C6D925F0-7EE5-B1FF-28FE-2F4EED901939}"/>
              </a:ext>
            </a:extLst>
          </p:cNvPr>
          <p:cNvSpPr txBox="1"/>
          <p:nvPr/>
        </p:nvSpPr>
        <p:spPr>
          <a:xfrm>
            <a:off x="615828" y="1558032"/>
            <a:ext cx="8046720" cy="4339650"/>
          </a:xfrm>
          <a:prstGeom prst="rect">
            <a:avLst/>
          </a:prstGeom>
          <a:solidFill>
            <a:srgbClr val="FFFFFF"/>
          </a:solidFill>
        </p:spPr>
        <p:txBody>
          <a:bodyPr wrap="square">
            <a:spAutoFit/>
          </a:bodyPr>
          <a:lstStyle/>
          <a:p>
            <a:pPr>
              <a:spcAft>
                <a:spcPts val="1200"/>
              </a:spcAft>
              <a:defRPr sz="1800">
                <a:solidFill>
                  <a:srgbClr val="6F7378"/>
                </a:solidFill>
                <a:latin typeface="Inter"/>
              </a:defRPr>
            </a:pPr>
            <a:r>
              <a:rPr lang="en-US" sz="1600" dirty="0"/>
              <a:t>WHAT IT HANDLES</a:t>
            </a:r>
          </a:p>
          <a:p>
            <a:pPr>
              <a:spcAft>
                <a:spcPts val="1200"/>
              </a:spcAft>
              <a:defRPr sz="1800">
                <a:solidFill>
                  <a:srgbClr val="6F7378"/>
                </a:solidFill>
                <a:latin typeface="Inter"/>
              </a:defRPr>
            </a:pPr>
            <a:r>
              <a:rPr lang="en-US" sz="1600" dirty="0"/>
              <a:t>- Casemaker waste</a:t>
            </a:r>
          </a:p>
          <a:p>
            <a:pPr>
              <a:spcAft>
                <a:spcPts val="1200"/>
              </a:spcAft>
              <a:defRPr sz="1800">
                <a:solidFill>
                  <a:srgbClr val="6F7378"/>
                </a:solidFill>
                <a:latin typeface="Inter"/>
              </a:defRPr>
            </a:pPr>
            <a:r>
              <a:rPr lang="en-US" sz="1600" dirty="0"/>
              <a:t>- Die-cutter waste</a:t>
            </a:r>
          </a:p>
          <a:p>
            <a:pPr>
              <a:spcAft>
                <a:spcPts val="1200"/>
              </a:spcAft>
              <a:defRPr sz="1800">
                <a:solidFill>
                  <a:srgbClr val="6F7378"/>
                </a:solidFill>
                <a:latin typeface="Inter"/>
              </a:defRPr>
            </a:pPr>
            <a:r>
              <a:rPr lang="en-US" sz="1600" dirty="0"/>
              <a:t>- Corrugator waste</a:t>
            </a:r>
          </a:p>
          <a:p>
            <a:pPr>
              <a:spcAft>
                <a:spcPts val="1200"/>
              </a:spcAft>
              <a:defRPr sz="1800">
                <a:solidFill>
                  <a:srgbClr val="6F7378"/>
                </a:solidFill>
                <a:latin typeface="Inter"/>
              </a:defRPr>
            </a:pPr>
            <a:r>
              <a:rPr lang="en-US" sz="1600" dirty="0"/>
              <a:t>- Sheet waste</a:t>
            </a:r>
          </a:p>
          <a:p>
            <a:pPr>
              <a:spcAft>
                <a:spcPts val="1200"/>
              </a:spcAft>
              <a:defRPr sz="1800">
                <a:solidFill>
                  <a:srgbClr val="6F7378"/>
                </a:solidFill>
                <a:latin typeface="Inter"/>
              </a:defRPr>
            </a:pPr>
            <a:endParaRPr lang="en-US" sz="1600" dirty="0"/>
          </a:p>
          <a:p>
            <a:pPr>
              <a:spcAft>
                <a:spcPts val="1200"/>
              </a:spcAft>
              <a:defRPr sz="1800">
                <a:solidFill>
                  <a:srgbClr val="6F7378"/>
                </a:solidFill>
                <a:latin typeface="Inter"/>
              </a:defRPr>
            </a:pPr>
            <a:r>
              <a:rPr lang="en-US" sz="1600" b="1" dirty="0">
                <a:solidFill>
                  <a:srgbClr val="FF6A00"/>
                </a:solidFill>
              </a:rPr>
              <a:t>KEY BENEFITS</a:t>
            </a:r>
          </a:p>
          <a:p>
            <a:pPr>
              <a:spcAft>
                <a:spcPts val="1200"/>
              </a:spcAft>
              <a:defRPr sz="1800">
                <a:solidFill>
                  <a:srgbClr val="6F7378"/>
                </a:solidFill>
                <a:latin typeface="Inter"/>
              </a:defRPr>
            </a:pPr>
            <a:r>
              <a:rPr lang="en-US" sz="1600" dirty="0"/>
              <a:t>- Very low energy consumption</a:t>
            </a:r>
          </a:p>
          <a:p>
            <a:pPr>
              <a:spcAft>
                <a:spcPts val="1200"/>
              </a:spcAft>
              <a:defRPr sz="1800">
                <a:solidFill>
                  <a:srgbClr val="6F7378"/>
                </a:solidFill>
                <a:latin typeface="Inter"/>
              </a:defRPr>
            </a:pPr>
            <a:r>
              <a:rPr lang="en-US" sz="1600" dirty="0"/>
              <a:t>- Low noise level</a:t>
            </a:r>
          </a:p>
          <a:p>
            <a:pPr>
              <a:spcAft>
                <a:spcPts val="1200"/>
              </a:spcAft>
              <a:defRPr sz="1800">
                <a:solidFill>
                  <a:srgbClr val="6F7378"/>
                </a:solidFill>
                <a:latin typeface="Inter"/>
              </a:defRPr>
            </a:pPr>
            <a:r>
              <a:rPr lang="en-US" sz="1600" dirty="0"/>
              <a:t>- No airborne dust</a:t>
            </a:r>
          </a:p>
          <a:p>
            <a:pPr>
              <a:spcAft>
                <a:spcPts val="1200"/>
              </a:spcAft>
              <a:defRPr sz="1800">
                <a:solidFill>
                  <a:srgbClr val="6F7378"/>
                </a:solidFill>
                <a:latin typeface="Inter"/>
              </a:defRPr>
            </a:pPr>
            <a:r>
              <a:rPr lang="en-US" sz="1600" dirty="0"/>
              <a:t>- Reduced fire hazard</a:t>
            </a:r>
            <a:endParaRPr sz="1600" dirty="0"/>
          </a:p>
        </p:txBody>
      </p:sp>
      <p:sp>
        <p:nvSpPr>
          <p:cNvPr id="7" name="TextBox 6">
            <a:extLst>
              <a:ext uri="{FF2B5EF4-FFF2-40B4-BE49-F238E27FC236}">
                <a16:creationId xmlns:a16="http://schemas.microsoft.com/office/drawing/2014/main" id="{B618F053-9E6E-C47C-CB76-553F3AB4570A}"/>
              </a:ext>
            </a:extLst>
          </p:cNvPr>
          <p:cNvSpPr txBox="1"/>
          <p:nvPr/>
        </p:nvSpPr>
        <p:spPr>
          <a:xfrm>
            <a:off x="717428" y="226911"/>
            <a:ext cx="10918374" cy="954107"/>
          </a:xfrm>
          <a:prstGeom prst="rect">
            <a:avLst/>
          </a:prstGeom>
          <a:noFill/>
        </p:spPr>
        <p:txBody>
          <a:bodyPr wrap="none">
            <a:spAutoFit/>
          </a:bodyPr>
          <a:lstStyle/>
          <a:p>
            <a:r>
              <a:rPr lang="en-US" sz="2800" b="1" dirty="0">
                <a:latin typeface="Montserrat"/>
              </a:rPr>
              <a:t>SR-1400 </a:t>
            </a:r>
          </a:p>
          <a:p>
            <a:r>
              <a:rPr lang="en-US" sz="2800" b="1" dirty="0">
                <a:solidFill>
                  <a:srgbClr val="FF6A00"/>
                </a:solidFill>
                <a:latin typeface="Montserrat"/>
              </a:rPr>
              <a:t>unified solution for collecting and transporting all waste </a:t>
            </a:r>
          </a:p>
        </p:txBody>
      </p:sp>
      <p:pic>
        <p:nvPicPr>
          <p:cNvPr id="6" name="Picture 5">
            <a:extLst>
              <a:ext uri="{FF2B5EF4-FFF2-40B4-BE49-F238E27FC236}">
                <a16:creationId xmlns:a16="http://schemas.microsoft.com/office/drawing/2014/main" id="{6DA3417F-3A34-553E-3B9D-AEB070F44E2B}"/>
              </a:ext>
            </a:extLst>
          </p:cNvPr>
          <p:cNvPicPr>
            <a:picLocks noChangeAspect="1"/>
          </p:cNvPicPr>
          <p:nvPr/>
        </p:nvPicPr>
        <p:blipFill>
          <a:blip r:embed="rId2">
            <a:alphaModFix amt="35000"/>
          </a:blip>
          <a:srcRect l="8721" t="20632" r="18410"/>
          <a:stretch>
            <a:fillRect/>
          </a:stretch>
        </p:blipFill>
        <p:spPr>
          <a:xfrm>
            <a:off x="3728720" y="2197135"/>
            <a:ext cx="8463280" cy="4660865"/>
          </a:xfrm>
          <a:prstGeom prst="rect">
            <a:avLst/>
          </a:prstGeom>
        </p:spPr>
      </p:pic>
    </p:spTree>
    <p:extLst>
      <p:ext uri="{BB962C8B-B14F-4D97-AF65-F5344CB8AC3E}">
        <p14:creationId xmlns:p14="http://schemas.microsoft.com/office/powerpoint/2010/main" val="4267212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83883-CF6E-383D-0E7E-5A64419B98FA}"/>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2C9566E-6B9F-4B54-47CA-8655C015C008}"/>
              </a:ext>
            </a:extLst>
          </p:cNvPr>
          <p:cNvPicPr>
            <a:picLocks noChangeAspect="1"/>
          </p:cNvPicPr>
          <p:nvPr/>
        </p:nvPicPr>
        <p:blipFill>
          <a:blip r:embed="rId2">
            <a:alphaModFix amt="35000"/>
          </a:blip>
          <a:srcRect l="8721" t="20632" r="18410"/>
          <a:stretch>
            <a:fillRect/>
          </a:stretch>
        </p:blipFill>
        <p:spPr>
          <a:xfrm>
            <a:off x="3728720" y="2197135"/>
            <a:ext cx="8463280" cy="4660865"/>
          </a:xfrm>
          <a:prstGeom prst="rect">
            <a:avLst/>
          </a:prstGeom>
        </p:spPr>
      </p:pic>
      <p:sp>
        <p:nvSpPr>
          <p:cNvPr id="3" name="Rectangle 2">
            <a:extLst>
              <a:ext uri="{FF2B5EF4-FFF2-40B4-BE49-F238E27FC236}">
                <a16:creationId xmlns:a16="http://schemas.microsoft.com/office/drawing/2014/main" id="{DB52E2D8-5005-ECB1-4164-92E0B6D57A67}"/>
              </a:ext>
            </a:extLst>
          </p:cNvPr>
          <p:cNvSpPr/>
          <p:nvPr/>
        </p:nvSpPr>
        <p:spPr>
          <a:xfrm>
            <a:off x="717428" y="1355809"/>
            <a:ext cx="1188720" cy="27432"/>
          </a:xfrm>
          <a:prstGeom prst="rect">
            <a:avLst/>
          </a:prstGeom>
          <a:solidFill>
            <a:srgbClr val="FF6A00"/>
          </a:solidFill>
          <a:ln>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2FC08469-2339-8F39-30EF-C838219C7DCB}"/>
              </a:ext>
            </a:extLst>
          </p:cNvPr>
          <p:cNvSpPr txBox="1"/>
          <p:nvPr/>
        </p:nvSpPr>
        <p:spPr>
          <a:xfrm>
            <a:off x="615828" y="1558032"/>
            <a:ext cx="8046720" cy="5078313"/>
          </a:xfrm>
          <a:prstGeom prst="rect">
            <a:avLst/>
          </a:prstGeom>
          <a:noFill/>
        </p:spPr>
        <p:txBody>
          <a:bodyPr wrap="square">
            <a:spAutoFit/>
          </a:bodyPr>
          <a:lstStyle/>
          <a:p>
            <a:pPr>
              <a:spcAft>
                <a:spcPts val="1200"/>
              </a:spcAft>
              <a:defRPr sz="1800">
                <a:solidFill>
                  <a:srgbClr val="6F7378"/>
                </a:solidFill>
                <a:latin typeface="Inter"/>
              </a:defRPr>
            </a:pPr>
            <a:r>
              <a:rPr lang="en-US" sz="1600" dirty="0"/>
              <a:t>Auto-lubrication system</a:t>
            </a:r>
          </a:p>
          <a:p>
            <a:pPr>
              <a:spcAft>
                <a:spcPts val="1200"/>
              </a:spcAft>
              <a:defRPr sz="1800">
                <a:solidFill>
                  <a:srgbClr val="6F7378"/>
                </a:solidFill>
                <a:latin typeface="Inter"/>
              </a:defRPr>
            </a:pPr>
            <a:r>
              <a:rPr lang="en-US" sz="1600" dirty="0"/>
              <a:t>Sectional stop at each machine:</a:t>
            </a:r>
          </a:p>
          <a:p>
            <a:pPr>
              <a:spcAft>
                <a:spcPts val="1200"/>
              </a:spcAft>
              <a:defRPr sz="1800">
                <a:solidFill>
                  <a:srgbClr val="6F7378"/>
                </a:solidFill>
                <a:latin typeface="Inter"/>
              </a:defRPr>
            </a:pPr>
            <a:r>
              <a:rPr lang="en-US" sz="1600" dirty="0"/>
              <a:t>Safety push-buttons allow operators to stop non-operative sections, improving safety and saving energy.</a:t>
            </a:r>
          </a:p>
          <a:p>
            <a:pPr>
              <a:spcAft>
                <a:spcPts val="1200"/>
              </a:spcAft>
              <a:defRPr sz="1800">
                <a:solidFill>
                  <a:srgbClr val="6F7378"/>
                </a:solidFill>
                <a:latin typeface="Inter"/>
              </a:defRPr>
            </a:pPr>
            <a:r>
              <a:rPr lang="en-US" sz="1600" dirty="0"/>
              <a:t>Anti-wear plates at line ends</a:t>
            </a:r>
          </a:p>
          <a:p>
            <a:pPr>
              <a:spcAft>
                <a:spcPts val="1200"/>
              </a:spcAft>
              <a:defRPr sz="1800">
                <a:solidFill>
                  <a:srgbClr val="6F7378"/>
                </a:solidFill>
                <a:latin typeface="Inter"/>
              </a:defRPr>
            </a:pPr>
            <a:r>
              <a:rPr lang="en-US" sz="1600" b="1" dirty="0">
                <a:solidFill>
                  <a:srgbClr val="FF6A00"/>
                </a:solidFill>
              </a:rPr>
              <a:t>Special chain &amp; arm design</a:t>
            </a:r>
          </a:p>
          <a:p>
            <a:pPr>
              <a:spcAft>
                <a:spcPts val="1200"/>
              </a:spcAft>
              <a:defRPr sz="1800">
                <a:solidFill>
                  <a:srgbClr val="6F7378"/>
                </a:solidFill>
                <a:latin typeface="Inter"/>
              </a:defRPr>
            </a:pPr>
            <a:r>
              <a:rPr lang="en-US" sz="1600" dirty="0"/>
              <a:t>Developed after studying multiple customer installations. Eliminates common fixing failures and constant maintenance issues.</a:t>
            </a:r>
          </a:p>
          <a:p>
            <a:pPr>
              <a:spcAft>
                <a:spcPts val="1200"/>
              </a:spcAft>
              <a:defRPr sz="1800">
                <a:solidFill>
                  <a:srgbClr val="6F7378"/>
                </a:solidFill>
                <a:latin typeface="Inter"/>
              </a:defRPr>
            </a:pPr>
            <a:r>
              <a:rPr lang="en-US" sz="1600" dirty="0"/>
              <a:t>Chain link breaking strength</a:t>
            </a:r>
          </a:p>
          <a:p>
            <a:pPr>
              <a:spcAft>
                <a:spcPts val="1200"/>
              </a:spcAft>
              <a:defRPr sz="1800">
                <a:solidFill>
                  <a:srgbClr val="6F7378"/>
                </a:solidFill>
                <a:latin typeface="Inter"/>
              </a:defRPr>
            </a:pPr>
            <a:r>
              <a:rPr lang="en-US" sz="1600" dirty="0"/>
              <a:t>35,000 kg – Metal fins allow screw fixing for easy annual inspections.</a:t>
            </a:r>
          </a:p>
          <a:p>
            <a:pPr>
              <a:spcAft>
                <a:spcPts val="1200"/>
              </a:spcAft>
              <a:defRPr sz="1800">
                <a:solidFill>
                  <a:srgbClr val="6F7378"/>
                </a:solidFill>
                <a:latin typeface="Inter"/>
              </a:defRPr>
            </a:pPr>
            <a:r>
              <a:rPr lang="en-US" sz="1600" dirty="0"/>
              <a:t>Speed inverters for flow control</a:t>
            </a:r>
          </a:p>
          <a:p>
            <a:pPr>
              <a:spcAft>
                <a:spcPts val="1200"/>
              </a:spcAft>
              <a:defRPr sz="1800">
                <a:solidFill>
                  <a:srgbClr val="6F7378"/>
                </a:solidFill>
                <a:latin typeface="Inter"/>
              </a:defRPr>
            </a:pPr>
            <a:r>
              <a:rPr lang="en-US" sz="1600" dirty="0"/>
              <a:t>Complete system integration</a:t>
            </a:r>
          </a:p>
          <a:p>
            <a:pPr>
              <a:spcAft>
                <a:spcPts val="1200"/>
              </a:spcAft>
              <a:defRPr sz="1800">
                <a:solidFill>
                  <a:srgbClr val="6F7378"/>
                </a:solidFill>
                <a:latin typeface="Inter"/>
              </a:defRPr>
            </a:pPr>
            <a:r>
              <a:rPr lang="en-US" sz="1600" dirty="0"/>
              <a:t>Waste from the corrugator is collected and transported without a cyclone, further reducing energy costs and avoiding system duplication.</a:t>
            </a:r>
            <a:endParaRPr sz="1600" dirty="0"/>
          </a:p>
        </p:txBody>
      </p:sp>
      <p:sp>
        <p:nvSpPr>
          <p:cNvPr id="7" name="TextBox 6">
            <a:extLst>
              <a:ext uri="{FF2B5EF4-FFF2-40B4-BE49-F238E27FC236}">
                <a16:creationId xmlns:a16="http://schemas.microsoft.com/office/drawing/2014/main" id="{43F0055E-EAA0-080C-0EC8-6098C2B1F7B7}"/>
              </a:ext>
            </a:extLst>
          </p:cNvPr>
          <p:cNvSpPr txBox="1"/>
          <p:nvPr/>
        </p:nvSpPr>
        <p:spPr>
          <a:xfrm>
            <a:off x="717428" y="226911"/>
            <a:ext cx="10918374" cy="954107"/>
          </a:xfrm>
          <a:prstGeom prst="rect">
            <a:avLst/>
          </a:prstGeom>
          <a:noFill/>
        </p:spPr>
        <p:txBody>
          <a:bodyPr wrap="none">
            <a:spAutoFit/>
          </a:bodyPr>
          <a:lstStyle/>
          <a:p>
            <a:r>
              <a:rPr lang="en-US" sz="2800" b="1" dirty="0">
                <a:latin typeface="Montserrat"/>
              </a:rPr>
              <a:t>SR-1400 </a:t>
            </a:r>
          </a:p>
          <a:p>
            <a:r>
              <a:rPr lang="en-US" sz="2800" b="1" dirty="0">
                <a:solidFill>
                  <a:srgbClr val="FF6A00"/>
                </a:solidFill>
                <a:latin typeface="Montserrat"/>
              </a:rPr>
              <a:t>unified solution for collecting and transporting all waste </a:t>
            </a:r>
          </a:p>
        </p:txBody>
      </p:sp>
    </p:spTree>
    <p:extLst>
      <p:ext uri="{BB962C8B-B14F-4D97-AF65-F5344CB8AC3E}">
        <p14:creationId xmlns:p14="http://schemas.microsoft.com/office/powerpoint/2010/main" val="2738649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A2ED1-7EB6-5998-0ED1-BB3989443C1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CFA989F-4E52-D0CE-0B6C-B2B00C0F2474}"/>
              </a:ext>
            </a:extLst>
          </p:cNvPr>
          <p:cNvPicPr>
            <a:picLocks noChangeAspect="1"/>
          </p:cNvPicPr>
          <p:nvPr/>
        </p:nvPicPr>
        <p:blipFill>
          <a:blip r:embed="rId2">
            <a:extLst>
              <a:ext uri="{28A0092B-C50C-407E-A947-70E740481C1C}">
                <a14:useLocalDpi xmlns:a14="http://schemas.microsoft.com/office/drawing/2010/main" val="0"/>
              </a:ext>
            </a:extLst>
          </a:blip>
          <a:srcRect l="24194" t="13226" r="3125" b="13226"/>
          <a:stretch>
            <a:fillRect/>
          </a:stretch>
        </p:blipFill>
        <p:spPr>
          <a:xfrm>
            <a:off x="144025" y="-28444"/>
            <a:ext cx="12047975" cy="6858000"/>
          </a:xfrm>
          <a:prstGeom prst="rect">
            <a:avLst/>
          </a:prstGeom>
        </p:spPr>
      </p:pic>
      <p:pic>
        <p:nvPicPr>
          <p:cNvPr id="4" name="Picture 3">
            <a:extLst>
              <a:ext uri="{FF2B5EF4-FFF2-40B4-BE49-F238E27FC236}">
                <a16:creationId xmlns:a16="http://schemas.microsoft.com/office/drawing/2014/main" id="{1A58468C-FD39-F448-5A9C-6994A6DFEE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753" y="-942114"/>
            <a:ext cx="4764034" cy="4764034"/>
          </a:xfrm>
          <a:prstGeom prst="rect">
            <a:avLst/>
          </a:prstGeom>
        </p:spPr>
      </p:pic>
      <p:sp>
        <p:nvSpPr>
          <p:cNvPr id="5" name="TextBox 4">
            <a:extLst>
              <a:ext uri="{FF2B5EF4-FFF2-40B4-BE49-F238E27FC236}">
                <a16:creationId xmlns:a16="http://schemas.microsoft.com/office/drawing/2014/main" id="{7DFD71A2-B7C5-01FB-7C05-7E349B0D6B45}"/>
              </a:ext>
            </a:extLst>
          </p:cNvPr>
          <p:cNvSpPr txBox="1"/>
          <p:nvPr/>
        </p:nvSpPr>
        <p:spPr>
          <a:xfrm>
            <a:off x="454666" y="2892725"/>
            <a:ext cx="2182008" cy="1015663"/>
          </a:xfrm>
          <a:prstGeom prst="rect">
            <a:avLst/>
          </a:prstGeom>
          <a:noFill/>
        </p:spPr>
        <p:txBody>
          <a:bodyPr wrap="none">
            <a:spAutoFit/>
          </a:bodyPr>
          <a:lstStyle/>
          <a:p>
            <a:r>
              <a:rPr lang="es-ES" sz="2000" b="1" dirty="0">
                <a:latin typeface="Montserrat"/>
              </a:rPr>
              <a:t>RFID</a:t>
            </a:r>
          </a:p>
          <a:p>
            <a:r>
              <a:rPr lang="es-ES" sz="2000" b="1" dirty="0">
                <a:latin typeface="Montserrat"/>
              </a:rPr>
              <a:t>ROLL </a:t>
            </a:r>
          </a:p>
          <a:p>
            <a:r>
              <a:rPr lang="es-ES" sz="2000" b="1" dirty="0">
                <a:latin typeface="Montserrat"/>
              </a:rPr>
              <a:t>MANAGEMENT</a:t>
            </a:r>
            <a:endParaRPr lang="es-ES" sz="4000" b="1" dirty="0">
              <a:latin typeface="Montserrat"/>
            </a:endParaRPr>
          </a:p>
        </p:txBody>
      </p:sp>
      <p:sp>
        <p:nvSpPr>
          <p:cNvPr id="7" name="TextBox 6">
            <a:extLst>
              <a:ext uri="{FF2B5EF4-FFF2-40B4-BE49-F238E27FC236}">
                <a16:creationId xmlns:a16="http://schemas.microsoft.com/office/drawing/2014/main" id="{1F61CEB5-65DA-5006-869C-275EA2CFA716}"/>
              </a:ext>
            </a:extLst>
          </p:cNvPr>
          <p:cNvSpPr txBox="1"/>
          <p:nvPr/>
        </p:nvSpPr>
        <p:spPr>
          <a:xfrm>
            <a:off x="454666" y="4174245"/>
            <a:ext cx="6248400" cy="923330"/>
          </a:xfrm>
          <a:prstGeom prst="rect">
            <a:avLst/>
          </a:prstGeom>
          <a:noFill/>
        </p:spPr>
        <p:txBody>
          <a:bodyPr wrap="square">
            <a:spAutoFit/>
          </a:bodyPr>
          <a:lstStyle/>
          <a:p>
            <a:r>
              <a:rPr lang="en-US" sz="1800" dirty="0">
                <a:effectLst/>
                <a:latin typeface="Aptos" panose="020B0004020202020204" pitchFamily="34" charset="0"/>
                <a:ea typeface="Aptos" panose="020B0004020202020204" pitchFamily="34" charset="0"/>
                <a:cs typeface="Times New Roman" panose="02020603050405020304" pitchFamily="18" charset="0"/>
              </a:rPr>
              <a:t>fully integrated, cost-effective RFID-based solution to automatically identify, track, and validate paper rolls at every critical station </a:t>
            </a:r>
            <a:endParaRPr lang="es-ES" dirty="0"/>
          </a:p>
        </p:txBody>
      </p:sp>
    </p:spTree>
    <p:extLst>
      <p:ext uri="{BB962C8B-B14F-4D97-AF65-F5344CB8AC3E}">
        <p14:creationId xmlns:p14="http://schemas.microsoft.com/office/powerpoint/2010/main" val="19258469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33557-9A39-5A9D-0FAF-3B2CE49A372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90CA894-5E8E-2DC1-5C6A-20FDD16A0061}"/>
              </a:ext>
            </a:extLst>
          </p:cNvPr>
          <p:cNvPicPr>
            <a:picLocks noChangeAspect="1"/>
          </p:cNvPicPr>
          <p:nvPr/>
        </p:nvPicPr>
        <p:blipFill>
          <a:blip r:embed="rId2">
            <a:extLst>
              <a:ext uri="{28A0092B-C50C-407E-A947-70E740481C1C}">
                <a14:useLocalDpi xmlns:a14="http://schemas.microsoft.com/office/drawing/2010/main" val="0"/>
              </a:ext>
            </a:extLst>
          </a:blip>
          <a:srcRect t="11188"/>
          <a:stretch>
            <a:fillRect/>
          </a:stretch>
        </p:blipFill>
        <p:spPr>
          <a:xfrm>
            <a:off x="0" y="540710"/>
            <a:ext cx="12192000" cy="5776579"/>
          </a:xfrm>
          <a:prstGeom prst="rect">
            <a:avLst/>
          </a:prstGeom>
        </p:spPr>
      </p:pic>
    </p:spTree>
    <p:extLst>
      <p:ext uri="{BB962C8B-B14F-4D97-AF65-F5344CB8AC3E}">
        <p14:creationId xmlns:p14="http://schemas.microsoft.com/office/powerpoint/2010/main" val="20317032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14801AB-1A87-ED4E-FAE5-1BC464ED4D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Tree>
    <p:extLst>
      <p:ext uri="{BB962C8B-B14F-4D97-AF65-F5344CB8AC3E}">
        <p14:creationId xmlns:p14="http://schemas.microsoft.com/office/powerpoint/2010/main" val="355632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09EC2D8-86F7-A51C-F77E-D19F2AFBE832}"/>
              </a:ext>
            </a:extLst>
          </p:cNvPr>
          <p:cNvPicPr>
            <a:picLocks noChangeAspect="1"/>
          </p:cNvPicPr>
          <p:nvPr/>
        </p:nvPicPr>
        <p:blipFill>
          <a:blip r:embed="rId2"/>
          <a:stretch>
            <a:fillRect/>
          </a:stretch>
        </p:blipFill>
        <p:spPr>
          <a:xfrm>
            <a:off x="0" y="0"/>
            <a:ext cx="12192000" cy="6858000"/>
          </a:xfrm>
          <a:prstGeom prst="rect">
            <a:avLst/>
          </a:prstGeom>
        </p:spPr>
      </p:pic>
      <p:pic>
        <p:nvPicPr>
          <p:cNvPr id="3" name="Picture 2">
            <a:extLst>
              <a:ext uri="{FF2B5EF4-FFF2-40B4-BE49-F238E27FC236}">
                <a16:creationId xmlns:a16="http://schemas.microsoft.com/office/drawing/2014/main" id="{4C8FDB48-E0D2-BB2B-1554-AFFD834AE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1278" y="0"/>
            <a:ext cx="8569444" cy="6858000"/>
          </a:xfrm>
          <a:prstGeom prst="rect">
            <a:avLst/>
          </a:prstGeom>
        </p:spPr>
      </p:pic>
    </p:spTree>
    <p:extLst>
      <p:ext uri="{BB962C8B-B14F-4D97-AF65-F5344CB8AC3E}">
        <p14:creationId xmlns:p14="http://schemas.microsoft.com/office/powerpoint/2010/main" val="2440281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4385</TotalTime>
  <Words>1039</Words>
  <Application>Microsoft Office PowerPoint</Application>
  <PresentationFormat>Widescreen</PresentationFormat>
  <Paragraphs>154</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Aptos Display</vt:lpstr>
      <vt:lpstr>Arial</vt:lpstr>
      <vt:lpstr>Inter</vt:lpstr>
      <vt:lpstr>Montserrat</vt:lpstr>
      <vt:lpstr>quote-cjk-patch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Iñaki Senar</dc:creator>
  <cp:lastModifiedBy>Iñaki Senar</cp:lastModifiedBy>
  <cp:revision>29</cp:revision>
  <cp:lastPrinted>2026-05-16T07:50:36Z</cp:lastPrinted>
  <dcterms:created xsi:type="dcterms:W3CDTF">2026-05-11T05:59:07Z</dcterms:created>
  <dcterms:modified xsi:type="dcterms:W3CDTF">2026-06-04T15:51:48Z</dcterms:modified>
</cp:coreProperties>
</file>
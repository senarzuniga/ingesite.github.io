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4" r:id="rId3"/>
    <p:sldId id="277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C718B-CC70-02EB-6798-94533BDF2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29B41-4C20-ADFD-56CA-84378D91B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4B828-B223-0984-2CB6-457C23C6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A4D-E993-491F-99CE-3FB83E05645C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8476-F402-EE36-9C3D-1DDAE7AA4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D878B-0914-259A-CE8E-9C271E44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63691-A786-4432-9D66-131AE2CECC8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1387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13584-2D30-4DE0-9992-5DA89D621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8BA4C-6A51-AB12-B859-6CEE9A7C4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4A1FD-3BE5-EA50-F0E0-E5296CF0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A4D-E993-491F-99CE-3FB83E05645C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2914E-226E-1455-E4F9-06B4A4B13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9A84-3DB5-EF1A-1B39-261982F4A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63691-A786-4432-9D66-131AE2CECC8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6389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210D8-86D1-A0E7-013A-45C585056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0F44A0-FCA9-1060-C1FF-DB3FF5046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C783D-FA39-BD2A-9AF8-0152C3D0B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A4D-E993-491F-99CE-3FB83E05645C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4DF0D-B6EE-7C5B-855E-9D56B383E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45809-7DE8-4027-D506-EA2A1D15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63691-A786-4432-9D66-131AE2CECC8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591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4B823-1600-2AB3-DFB7-B7FE97B85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B3286-CE93-527A-4158-B04FF9A594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1F98B-0778-6614-216E-ABDF44483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944BF-D294-C8FA-7894-000CA5E31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A4D-E993-491F-99CE-3FB83E05645C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31CD0-5802-F312-EDCB-089CB8EB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60D3A-127E-A520-B7C8-5312474F0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63691-A786-4432-9D66-131AE2CECC8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0800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82E40-D681-9116-7397-49A6BD90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98860-9476-2211-CEDF-12E67A567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B6654-BA29-5A41-714A-EDB05842F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C0A9DB-4A08-BEB3-0BD9-452CEF930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198FAA-1D76-E8DF-9DE4-D084BC49A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5D0EAC-BA40-5EA0-DA63-FE3181A40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A4D-E993-491F-99CE-3FB83E05645C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0362FA-8829-68CB-A8F9-4FA61A322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DFF6C-17A4-DD42-4282-582B2FB8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63691-A786-4432-9D66-131AE2CECC8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569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7B91A-606C-07FA-59BD-A9F60645B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C2C220-59CA-4402-FCC8-CBBF27CEE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A4D-E993-491F-99CE-3FB83E05645C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7EF367-A6E0-B921-C031-F4CD62BD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52B94-1A1B-84A6-B06B-72466B3E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63691-A786-4432-9D66-131AE2CECC8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0038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AE41A9-6728-2908-A179-9BFDF2322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A4D-E993-491F-99CE-3FB83E05645C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DDA980-2E3C-C0B4-9CC9-CD899F5D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F6F03-A2E6-C6B9-4243-1DEE3EB2B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63691-A786-4432-9D66-131AE2CECC8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9555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FACE2-61A3-013B-897F-B0D999B6D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397A7-FAE1-C721-0CC2-46686C250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34C4E-49DD-E6E9-EBA2-FBB678917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861B1-3B61-F851-1F4A-4FE07081C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A4D-E993-491F-99CE-3FB83E05645C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6139D-D422-BC55-0015-87D769CF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EDC26-696F-3BCC-22A5-A2B6358CF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63691-A786-4432-9D66-131AE2CECC8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2984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982B-A1C2-E93D-E2BB-ED02B144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8A21C7-57F8-D910-4DB1-E7852117CE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1B529-CDBD-594E-7801-4FA8A27E7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63D82-3340-0D93-2DEF-4A513DBA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A4D-E993-491F-99CE-3FB83E05645C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B40B7-1F55-6748-10D6-A1566129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0B6B3-0B81-84C7-D6BC-DA09F217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63691-A786-4432-9D66-131AE2CECC8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3892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09B7E-E8C4-C6E9-F0D2-62FE3335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809B7-CFBC-AD85-5EAC-4DE2C14D7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CDAD1-8D8F-D964-FB5C-1FAA33EE3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A4D-E993-491F-99CE-3FB83E05645C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FF17F-B263-CAEF-9AA5-6C717A5C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433A-AC02-6785-BFFE-DA840FAD7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63691-A786-4432-9D66-131AE2CECC8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268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A1577-894B-BB98-96B6-E530A06FE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161FE-1D1E-8D25-5BD9-B0CC81579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64822-732E-1E2C-025B-E14B9BA8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13A4D-E993-491F-99CE-3FB83E05645C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8C46B-93FD-9CB7-2BDE-3D06EF29A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F1069-6112-1AB0-774D-D181999EB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63691-A786-4432-9D66-131AE2CECC8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044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BAFA31-32D0-A4D7-8D10-6C4984D1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E1E8D-3ED6-8B0F-B6A5-3628373E8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5725C-78FA-1572-A367-28705ACE46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13A4D-E993-491F-99CE-3FB83E05645C}" type="datetimeFigureOut">
              <a:rPr lang="es-ES" smtClean="0"/>
              <a:t>04/06/2026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9344B-6F69-A744-6DC3-6899FEE06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F6A71-F798-F369-55DE-BEBC07998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663691-A786-4432-9D66-131AE2CECC8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750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94EE314-3FB8-94D8-DC54-34749D519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0" t="10631" r="2578" b="10516"/>
          <a:stretch>
            <a:fillRect/>
          </a:stretch>
        </p:blipFill>
        <p:spPr>
          <a:xfrm>
            <a:off x="0" y="332802"/>
            <a:ext cx="12192000" cy="59010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BED18A-42E0-692F-1C5A-F327C874A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753" y="-942114"/>
            <a:ext cx="4764034" cy="47640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459FA8-34E9-50C5-F77C-56E83CF3CD0B}"/>
              </a:ext>
            </a:extLst>
          </p:cNvPr>
          <p:cNvSpPr txBox="1"/>
          <p:nvPr/>
        </p:nvSpPr>
        <p:spPr>
          <a:xfrm>
            <a:off x="493995" y="2744702"/>
            <a:ext cx="331853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800" b="1" dirty="0">
                <a:latin typeface="Montserrat"/>
              </a:rPr>
              <a:t>INTRALOGISTICS</a:t>
            </a:r>
          </a:p>
          <a:p>
            <a:r>
              <a:rPr lang="es-ES" sz="3600" b="1" dirty="0">
                <a:solidFill>
                  <a:srgbClr val="FF6A00"/>
                </a:solidFill>
                <a:latin typeface="Montserrat"/>
              </a:rPr>
              <a:t>AMR</a:t>
            </a:r>
            <a:endParaRPr sz="3600" b="1" dirty="0">
              <a:solidFill>
                <a:srgbClr val="FF6A00"/>
              </a:solidFill>
              <a:latin typeface="Montserra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F8B6C1-1799-4E40-6026-795E161662C3}"/>
              </a:ext>
            </a:extLst>
          </p:cNvPr>
          <p:cNvSpPr txBox="1"/>
          <p:nvPr/>
        </p:nvSpPr>
        <p:spPr>
          <a:xfrm>
            <a:off x="493995" y="4249577"/>
            <a:ext cx="4838632" cy="206210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000" b="1" dirty="0">
                <a:latin typeface="Montserrat"/>
              </a:rPr>
              <a:t>INTRALOGISTICS</a:t>
            </a:r>
          </a:p>
          <a:p>
            <a:r>
              <a:rPr lang="es-ES" sz="2800" b="1" dirty="0">
                <a:solidFill>
                  <a:srgbClr val="FF6A00"/>
                </a:solidFill>
                <a:latin typeface="Montserrat"/>
              </a:rPr>
              <a:t>AMR</a:t>
            </a:r>
          </a:p>
          <a:p>
            <a:r>
              <a:rPr lang="en-US" sz="2000" b="1" dirty="0">
                <a:latin typeface="Inter"/>
              </a:rPr>
              <a:t>Supported by </a:t>
            </a:r>
            <a:r>
              <a:rPr lang="en-US" sz="2000" b="1" noProof="0" dirty="0">
                <a:solidFill>
                  <a:srgbClr val="FF6A00"/>
                </a:solidFill>
                <a:latin typeface="Montserrat"/>
              </a:rPr>
              <a:t>KUKA</a:t>
            </a:r>
            <a:r>
              <a:rPr lang="en-US" sz="2000" b="1" noProof="0" dirty="0">
                <a:solidFill>
                  <a:srgbClr val="FF6A00"/>
                </a:solidFill>
                <a:latin typeface="Inter"/>
              </a:rPr>
              <a:t>,</a:t>
            </a:r>
            <a:r>
              <a:rPr lang="en-US" sz="2000" b="1" dirty="0">
                <a:latin typeface="Inter"/>
              </a:rPr>
              <a:t> Ingecart has develop </a:t>
            </a:r>
          </a:p>
          <a:p>
            <a:r>
              <a:rPr lang="en-US" sz="2000" b="1" dirty="0">
                <a:latin typeface="Inter"/>
              </a:rPr>
              <a:t>a unique automated system for improving </a:t>
            </a:r>
          </a:p>
          <a:p>
            <a:r>
              <a:rPr lang="en-US" sz="2000" b="1" dirty="0">
                <a:latin typeface="Inter"/>
              </a:rPr>
              <a:t>the WIP management, efficiency</a:t>
            </a:r>
          </a:p>
          <a:p>
            <a:r>
              <a:rPr lang="en-US" sz="2000" b="1" dirty="0">
                <a:latin typeface="Inter"/>
              </a:rPr>
              <a:t>precision cost reduction </a:t>
            </a:r>
            <a:r>
              <a:rPr lang="en-US" noProof="0" dirty="0">
                <a:solidFill>
                  <a:srgbClr val="151515"/>
                </a:solidFill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0840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CB78C-EAB8-580E-F236-2A4A7045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33219B-9BEF-59D2-F9DD-A41FBAB0DFFC}"/>
              </a:ext>
            </a:extLst>
          </p:cNvPr>
          <p:cNvSpPr/>
          <p:nvPr/>
        </p:nvSpPr>
        <p:spPr>
          <a:xfrm>
            <a:off x="717428" y="1355809"/>
            <a:ext cx="1188720" cy="27432"/>
          </a:xfrm>
          <a:prstGeom prst="rect">
            <a:avLst/>
          </a:prstGeom>
          <a:solidFill>
            <a:srgbClr val="FF6A0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F7AD46-6BAD-D00B-0975-D2FAC8726137}"/>
              </a:ext>
            </a:extLst>
          </p:cNvPr>
          <p:cNvSpPr txBox="1"/>
          <p:nvPr/>
        </p:nvSpPr>
        <p:spPr>
          <a:xfrm>
            <a:off x="717428" y="1720593"/>
            <a:ext cx="8046720" cy="29238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dirty="0"/>
              <a:t> Ingecart Intralogistics Management System – AMR-Based Solution</a:t>
            </a:r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dirty="0"/>
              <a:t>Automate. Optimize. Maximize Every Square Meter.</a:t>
            </a:r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dirty="0"/>
              <a:t>Autonomous Mobile Robots (AMRs) significantly increase efficiency in storage and production environments. They automate transport and logistics processes, accelerating task execution and optimizing goods flow.</a:t>
            </a:r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endParaRPr lang="en-US" dirty="0"/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dirty="0"/>
              <a:t>Ingecart's compact and flexible AMR models integrate seamlessly into existing supply chains – saving substantial time and resources.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3607B3-4D94-E985-7653-3A746A88C50D}"/>
              </a:ext>
            </a:extLst>
          </p:cNvPr>
          <p:cNvSpPr txBox="1"/>
          <p:nvPr/>
        </p:nvSpPr>
        <p:spPr>
          <a:xfrm>
            <a:off x="717428" y="226911"/>
            <a:ext cx="8539517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latin typeface="Montserrat"/>
              </a:rPr>
              <a:t>Ingecart Intralogistics Management System </a:t>
            </a:r>
          </a:p>
          <a:p>
            <a:r>
              <a:rPr lang="en-US" sz="2800" b="1" dirty="0">
                <a:solidFill>
                  <a:srgbClr val="FF6A00"/>
                </a:solidFill>
                <a:latin typeface="Montserrat"/>
              </a:rPr>
              <a:t>AMR-Based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E955DC-F50B-F69D-D052-C1BC38B620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5" r="16844"/>
          <a:stretch>
            <a:fillRect/>
          </a:stretch>
        </p:blipFill>
        <p:spPr>
          <a:xfrm>
            <a:off x="7076044" y="2235200"/>
            <a:ext cx="5115956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31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9B3FB-7713-E541-CFC4-6E644B216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B716DC5-A398-4F3E-C150-24873B6E77AA}"/>
              </a:ext>
            </a:extLst>
          </p:cNvPr>
          <p:cNvSpPr/>
          <p:nvPr/>
        </p:nvSpPr>
        <p:spPr>
          <a:xfrm>
            <a:off x="717428" y="1355809"/>
            <a:ext cx="1188720" cy="27432"/>
          </a:xfrm>
          <a:prstGeom prst="rect">
            <a:avLst/>
          </a:prstGeom>
          <a:solidFill>
            <a:srgbClr val="FF6A00"/>
          </a:solidFill>
          <a:ln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AD18D-00EF-AD2A-0349-FD447B1D8B17}"/>
              </a:ext>
            </a:extLst>
          </p:cNvPr>
          <p:cNvSpPr txBox="1"/>
          <p:nvPr/>
        </p:nvSpPr>
        <p:spPr>
          <a:xfrm>
            <a:off x="615828" y="1558032"/>
            <a:ext cx="8046720" cy="5170646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sz="1600" dirty="0"/>
              <a:t>Fully automated movement of loads, WIP, and finished goods between warehouse, production, and converting machines</a:t>
            </a:r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sz="1600" dirty="0"/>
              <a:t>Real-time communication with production planning systems</a:t>
            </a:r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sz="1600" dirty="0"/>
              <a:t>📦 </a:t>
            </a:r>
            <a:r>
              <a:rPr lang="en-US" sz="1600" b="1" dirty="0">
                <a:solidFill>
                  <a:srgbClr val="FF6A00"/>
                </a:solidFill>
              </a:rPr>
              <a:t>Logistics Efficiency</a:t>
            </a:r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sz="1600" dirty="0"/>
              <a:t>Just-in-time delivery of materials to converting stations</a:t>
            </a:r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sz="1600" dirty="0"/>
              <a:t>Reduced waiting times and improved overall equipment effectiveness (OEE)</a:t>
            </a:r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sz="1600" dirty="0"/>
              <a:t>Synchronized material flow aligned with production pace</a:t>
            </a:r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sz="1600" dirty="0"/>
              <a:t>📐 Maximum Space Utilization (WIP per m²)</a:t>
            </a:r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sz="1600" dirty="0"/>
              <a:t>Compact AMR design navigates narrow aisles and tight spaces</a:t>
            </a:r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sz="1600" b="1" dirty="0">
                <a:solidFill>
                  <a:srgbClr val="FF6A00"/>
                </a:solidFill>
              </a:rPr>
              <a:t>Optimized WIP placement in minimum footprint</a:t>
            </a:r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sz="1600" dirty="0"/>
              <a:t>Intelligent routing allows higher storage density without adding square meters</a:t>
            </a:r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sz="1600" dirty="0"/>
              <a:t>🔁 Flow Management Between WIP &amp; Converting Machines</a:t>
            </a:r>
          </a:p>
          <a:p>
            <a:pPr>
              <a:spcAft>
                <a:spcPts val="1200"/>
              </a:spcAft>
              <a:defRPr sz="1800">
                <a:solidFill>
                  <a:srgbClr val="6F7378"/>
                </a:solidFill>
                <a:latin typeface="Inter"/>
              </a:defRPr>
            </a:pPr>
            <a:r>
              <a:rPr lang="en-US" sz="1600" dirty="0"/>
              <a:t>Dynamic management of work-in-progress buffers</a:t>
            </a:r>
            <a:endParaRPr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163E8-6E7E-3AB1-42B9-AFD79F29E34D}"/>
              </a:ext>
            </a:extLst>
          </p:cNvPr>
          <p:cNvSpPr txBox="1"/>
          <p:nvPr/>
        </p:nvSpPr>
        <p:spPr>
          <a:xfrm>
            <a:off x="717428" y="226911"/>
            <a:ext cx="8539517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latin typeface="Montserrat"/>
              </a:rPr>
              <a:t>Ingecart Intralogistics Management System </a:t>
            </a:r>
          </a:p>
          <a:p>
            <a:r>
              <a:rPr lang="en-US" sz="2800" b="1" dirty="0">
                <a:solidFill>
                  <a:srgbClr val="FF6A00"/>
                </a:solidFill>
                <a:latin typeface="Montserrat"/>
              </a:rPr>
              <a:t>AMR-Based Solution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BBECA9-EF81-F7A4-B7FF-4EC1B760BF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5" r="16844"/>
          <a:stretch>
            <a:fillRect/>
          </a:stretch>
        </p:blipFill>
        <p:spPr>
          <a:xfrm>
            <a:off x="7076044" y="2235200"/>
            <a:ext cx="5115956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30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Inter</vt:lpstr>
      <vt:lpstr>Montserrat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Iñaki Senar</dc:creator>
  <cp:lastModifiedBy>Iñaki Senar</cp:lastModifiedBy>
  <cp:revision>1</cp:revision>
  <dcterms:created xsi:type="dcterms:W3CDTF">2026-06-04T13:56:07Z</dcterms:created>
  <dcterms:modified xsi:type="dcterms:W3CDTF">2026-06-04T13:56:37Z</dcterms:modified>
</cp:coreProperties>
</file>